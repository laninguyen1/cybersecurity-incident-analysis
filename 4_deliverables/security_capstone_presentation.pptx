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1" r:id="rId12"/>
    <p:sldId id="267" r:id="rId13"/>
    <p:sldId id="268" r:id="rId14"/>
    <p:sldId id="273" r:id="rId15"/>
    <p:sldId id="270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2"/>
  </p:normalViewPr>
  <p:slideViewPr>
    <p:cSldViewPr snapToGrid="0">
      <p:cViewPr>
        <p:scale>
          <a:sx n="124" d="100"/>
          <a:sy n="124" d="100"/>
        </p:scale>
        <p:origin x="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D65FC4-85AC-4859-81E7-FA4A16A4160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145312A-1720-48F6-B87F-C51C231925AD}">
      <dgm:prSet/>
      <dgm:spPr/>
      <dgm:t>
        <a:bodyPr/>
        <a:lstStyle/>
        <a:p>
          <a:pPr>
            <a:defRPr cap="all"/>
          </a:pPr>
          <a:r>
            <a:rPr lang="en-US"/>
            <a:t>Cleaned data</a:t>
          </a:r>
        </a:p>
      </dgm:t>
    </dgm:pt>
    <dgm:pt modelId="{6D4A4D30-7B70-448F-B4D3-2E8AE870403A}" type="parTrans" cxnId="{E676ACB1-58DC-402E-976C-9E5EC7A02A83}">
      <dgm:prSet/>
      <dgm:spPr/>
      <dgm:t>
        <a:bodyPr/>
        <a:lstStyle/>
        <a:p>
          <a:endParaRPr lang="en-US"/>
        </a:p>
      </dgm:t>
    </dgm:pt>
    <dgm:pt modelId="{2E7B184E-E778-4EF8-871B-D3DE1BEDDCBE}" type="sibTrans" cxnId="{E676ACB1-58DC-402E-976C-9E5EC7A02A83}">
      <dgm:prSet/>
      <dgm:spPr/>
      <dgm:t>
        <a:bodyPr/>
        <a:lstStyle/>
        <a:p>
          <a:endParaRPr lang="en-US"/>
        </a:p>
      </dgm:t>
    </dgm:pt>
    <dgm:pt modelId="{932C94D2-9941-44D2-8808-61B59F00654A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pPr>
            <a:defRPr cap="all"/>
          </a:pPr>
          <a:r>
            <a:rPr lang="en-US"/>
            <a:t>Analyzed patterns</a:t>
          </a:r>
        </a:p>
      </dgm:t>
    </dgm:pt>
    <dgm:pt modelId="{22DAC5AA-877E-457C-AA82-91939D1CFDD7}" type="parTrans" cxnId="{0B9CBAC3-944C-443B-AF9B-3BDD7B887FAA}">
      <dgm:prSet/>
      <dgm:spPr/>
      <dgm:t>
        <a:bodyPr/>
        <a:lstStyle/>
        <a:p>
          <a:endParaRPr lang="en-US"/>
        </a:p>
      </dgm:t>
    </dgm:pt>
    <dgm:pt modelId="{F6CAAB56-5B3A-4F20-A10C-2DE88ECB5076}" type="sibTrans" cxnId="{0B9CBAC3-944C-443B-AF9B-3BDD7B887FAA}">
      <dgm:prSet/>
      <dgm:spPr/>
      <dgm:t>
        <a:bodyPr/>
        <a:lstStyle/>
        <a:p>
          <a:endParaRPr lang="en-US"/>
        </a:p>
      </dgm:t>
    </dgm:pt>
    <dgm:pt modelId="{551DC2C5-EFCC-432D-877C-F56D370A0AC0}">
      <dgm:prSet/>
      <dgm:spPr>
        <a:solidFill>
          <a:srgbClr val="E1C000"/>
        </a:solidFill>
      </dgm:spPr>
      <dgm:t>
        <a:bodyPr/>
        <a:lstStyle/>
        <a:p>
          <a:pPr>
            <a:defRPr cap="all"/>
          </a:pPr>
          <a:r>
            <a:rPr lang="en-US"/>
            <a:t>Mapped incidents to MITRE ATT&amp;CK techniques</a:t>
          </a:r>
        </a:p>
      </dgm:t>
    </dgm:pt>
    <dgm:pt modelId="{34BD3246-9C7D-4568-9688-86E48C9E78D5}" type="parTrans" cxnId="{D447748B-DC3C-4F29-8B6F-4184EBB826E9}">
      <dgm:prSet/>
      <dgm:spPr/>
      <dgm:t>
        <a:bodyPr/>
        <a:lstStyle/>
        <a:p>
          <a:endParaRPr lang="en-US"/>
        </a:p>
      </dgm:t>
    </dgm:pt>
    <dgm:pt modelId="{B1D29326-F6A0-46C4-BF78-BE802138ED8D}" type="sibTrans" cxnId="{D447748B-DC3C-4F29-8B6F-4184EBB826E9}">
      <dgm:prSet/>
      <dgm:spPr/>
      <dgm:t>
        <a:bodyPr/>
        <a:lstStyle/>
        <a:p>
          <a:endParaRPr lang="en-US"/>
        </a:p>
      </dgm:t>
    </dgm:pt>
    <dgm:pt modelId="{A4074513-BFD1-455E-94D5-73B933BF028F}">
      <dgm:prSet/>
      <dgm:spPr>
        <a:solidFill>
          <a:schemeClr val="accent2"/>
        </a:solidFill>
      </dgm:spPr>
      <dgm:t>
        <a:bodyPr/>
        <a:lstStyle/>
        <a:p>
          <a:pPr>
            <a:defRPr cap="all"/>
          </a:pPr>
          <a:r>
            <a:rPr lang="en-US"/>
            <a:t>Visualized findings in Tableau</a:t>
          </a:r>
        </a:p>
      </dgm:t>
    </dgm:pt>
    <dgm:pt modelId="{02130998-F946-4724-A033-1C440E2C3F89}" type="parTrans" cxnId="{83556B06-20F5-49E8-826D-895284E3E35F}">
      <dgm:prSet/>
      <dgm:spPr/>
      <dgm:t>
        <a:bodyPr/>
        <a:lstStyle/>
        <a:p>
          <a:endParaRPr lang="en-US"/>
        </a:p>
      </dgm:t>
    </dgm:pt>
    <dgm:pt modelId="{61F939BC-A8D0-4196-A858-4B3881A46F7E}" type="sibTrans" cxnId="{83556B06-20F5-49E8-826D-895284E3E35F}">
      <dgm:prSet/>
      <dgm:spPr/>
      <dgm:t>
        <a:bodyPr/>
        <a:lstStyle/>
        <a:p>
          <a:endParaRPr lang="en-US"/>
        </a:p>
      </dgm:t>
    </dgm:pt>
    <dgm:pt modelId="{B6B64139-74C8-4FE4-BDF9-30C3EA35F1E3}">
      <dgm:prSet/>
      <dgm:spPr>
        <a:solidFill>
          <a:srgbClr val="FFC000"/>
        </a:solidFill>
      </dgm:spPr>
      <dgm:t>
        <a:bodyPr/>
        <a:lstStyle/>
        <a:p>
          <a:pPr>
            <a:defRPr cap="all"/>
          </a:pPr>
          <a:r>
            <a:rPr lang="en-US"/>
            <a:t>Documented recommendations for IT audit teams</a:t>
          </a:r>
        </a:p>
      </dgm:t>
    </dgm:pt>
    <dgm:pt modelId="{84EFD631-87BD-4A70-B6B9-3BD4F1CDABCE}" type="parTrans" cxnId="{C91C3D27-C5B9-49CE-99F8-6B23923914A7}">
      <dgm:prSet/>
      <dgm:spPr/>
      <dgm:t>
        <a:bodyPr/>
        <a:lstStyle/>
        <a:p>
          <a:endParaRPr lang="en-US"/>
        </a:p>
      </dgm:t>
    </dgm:pt>
    <dgm:pt modelId="{12D85A9E-77F1-4578-A4C6-25414D6D1C74}" type="sibTrans" cxnId="{C91C3D27-C5B9-49CE-99F8-6B23923914A7}">
      <dgm:prSet/>
      <dgm:spPr/>
      <dgm:t>
        <a:bodyPr/>
        <a:lstStyle/>
        <a:p>
          <a:endParaRPr lang="en-US"/>
        </a:p>
      </dgm:t>
    </dgm:pt>
    <dgm:pt modelId="{0446DA30-2EF7-4BB6-BB63-BAA6BBC10019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pPr>
            <a:defRPr cap="all"/>
          </a:pPr>
          <a:r>
            <a:rPr lang="en-US"/>
            <a:t>Imported raw logs</a:t>
          </a:r>
        </a:p>
      </dgm:t>
    </dgm:pt>
    <dgm:pt modelId="{1651B4E0-17D8-4119-8C43-94DF1A901929}" type="sibTrans" cxnId="{299041F6-B1D9-484E-8042-DE7B436B35B6}">
      <dgm:prSet/>
      <dgm:spPr/>
      <dgm:t>
        <a:bodyPr/>
        <a:lstStyle/>
        <a:p>
          <a:endParaRPr lang="en-US"/>
        </a:p>
      </dgm:t>
    </dgm:pt>
    <dgm:pt modelId="{BF570864-0533-4F9B-91B0-0B733EFF5580}" type="parTrans" cxnId="{299041F6-B1D9-484E-8042-DE7B436B35B6}">
      <dgm:prSet/>
      <dgm:spPr/>
      <dgm:t>
        <a:bodyPr/>
        <a:lstStyle/>
        <a:p>
          <a:endParaRPr lang="en-US"/>
        </a:p>
      </dgm:t>
    </dgm:pt>
    <dgm:pt modelId="{5ABF46B7-8DE0-EF44-AB41-EEDD6DC1767A}" type="pres">
      <dgm:prSet presAssocID="{96D65FC4-85AC-4859-81E7-FA4A16A4160F}" presName="diagram" presStyleCnt="0">
        <dgm:presLayoutVars>
          <dgm:dir/>
          <dgm:resizeHandles val="exact"/>
        </dgm:presLayoutVars>
      </dgm:prSet>
      <dgm:spPr/>
    </dgm:pt>
    <dgm:pt modelId="{B632DA9D-1AF1-454A-89E4-C4EEE3D9AD2D}" type="pres">
      <dgm:prSet presAssocID="{0446DA30-2EF7-4BB6-BB63-BAA6BBC10019}" presName="node" presStyleLbl="node1" presStyleIdx="0" presStyleCnt="6">
        <dgm:presLayoutVars>
          <dgm:bulletEnabled val="1"/>
        </dgm:presLayoutVars>
      </dgm:prSet>
      <dgm:spPr/>
    </dgm:pt>
    <dgm:pt modelId="{A42FE075-8665-A140-BB23-7FD478694141}" type="pres">
      <dgm:prSet presAssocID="{1651B4E0-17D8-4119-8C43-94DF1A901929}" presName="sibTrans" presStyleCnt="0"/>
      <dgm:spPr/>
    </dgm:pt>
    <dgm:pt modelId="{9B8566F6-C0A9-4143-9872-0549F74F71F8}" type="pres">
      <dgm:prSet presAssocID="{2145312A-1720-48F6-B87F-C51C231925AD}" presName="node" presStyleLbl="node1" presStyleIdx="1" presStyleCnt="6">
        <dgm:presLayoutVars>
          <dgm:bulletEnabled val="1"/>
        </dgm:presLayoutVars>
      </dgm:prSet>
      <dgm:spPr/>
    </dgm:pt>
    <dgm:pt modelId="{3D4C15D4-0992-4743-91BC-4EB39DFF225C}" type="pres">
      <dgm:prSet presAssocID="{2E7B184E-E778-4EF8-871B-D3DE1BEDDCBE}" presName="sibTrans" presStyleCnt="0"/>
      <dgm:spPr/>
    </dgm:pt>
    <dgm:pt modelId="{24CD60A7-B465-2F4B-AB0B-E86D538471B0}" type="pres">
      <dgm:prSet presAssocID="{932C94D2-9941-44D2-8808-61B59F00654A}" presName="node" presStyleLbl="node1" presStyleIdx="2" presStyleCnt="6">
        <dgm:presLayoutVars>
          <dgm:bulletEnabled val="1"/>
        </dgm:presLayoutVars>
      </dgm:prSet>
      <dgm:spPr/>
    </dgm:pt>
    <dgm:pt modelId="{816309DC-012A-664D-B83F-33FD1B72EF78}" type="pres">
      <dgm:prSet presAssocID="{F6CAAB56-5B3A-4F20-A10C-2DE88ECB5076}" presName="sibTrans" presStyleCnt="0"/>
      <dgm:spPr/>
    </dgm:pt>
    <dgm:pt modelId="{EF115672-54C4-D346-986C-405313FE150A}" type="pres">
      <dgm:prSet presAssocID="{551DC2C5-EFCC-432D-877C-F56D370A0AC0}" presName="node" presStyleLbl="node1" presStyleIdx="3" presStyleCnt="6">
        <dgm:presLayoutVars>
          <dgm:bulletEnabled val="1"/>
        </dgm:presLayoutVars>
      </dgm:prSet>
      <dgm:spPr/>
    </dgm:pt>
    <dgm:pt modelId="{D5721845-A8BC-524D-A985-F38146DA419C}" type="pres">
      <dgm:prSet presAssocID="{B1D29326-F6A0-46C4-BF78-BE802138ED8D}" presName="sibTrans" presStyleCnt="0"/>
      <dgm:spPr/>
    </dgm:pt>
    <dgm:pt modelId="{DE6A6388-D31C-C544-8596-6EFDE89EC909}" type="pres">
      <dgm:prSet presAssocID="{A4074513-BFD1-455E-94D5-73B933BF028F}" presName="node" presStyleLbl="node1" presStyleIdx="4" presStyleCnt="6">
        <dgm:presLayoutVars>
          <dgm:bulletEnabled val="1"/>
        </dgm:presLayoutVars>
      </dgm:prSet>
      <dgm:spPr/>
    </dgm:pt>
    <dgm:pt modelId="{0A1D8C62-A16A-1840-AEAC-90A43286D5E8}" type="pres">
      <dgm:prSet presAssocID="{61F939BC-A8D0-4196-A858-4B3881A46F7E}" presName="sibTrans" presStyleCnt="0"/>
      <dgm:spPr/>
    </dgm:pt>
    <dgm:pt modelId="{D453FB12-3388-1E4F-9C71-FB8517EA12EB}" type="pres">
      <dgm:prSet presAssocID="{B6B64139-74C8-4FE4-BDF9-30C3EA35F1E3}" presName="node" presStyleLbl="node1" presStyleIdx="5" presStyleCnt="6">
        <dgm:presLayoutVars>
          <dgm:bulletEnabled val="1"/>
        </dgm:presLayoutVars>
      </dgm:prSet>
      <dgm:spPr/>
    </dgm:pt>
  </dgm:ptLst>
  <dgm:cxnLst>
    <dgm:cxn modelId="{83556B06-20F5-49E8-826D-895284E3E35F}" srcId="{96D65FC4-85AC-4859-81E7-FA4A16A4160F}" destId="{A4074513-BFD1-455E-94D5-73B933BF028F}" srcOrd="4" destOrd="0" parTransId="{02130998-F946-4724-A033-1C440E2C3F89}" sibTransId="{61F939BC-A8D0-4196-A858-4B3881A46F7E}"/>
    <dgm:cxn modelId="{C91C3D27-C5B9-49CE-99F8-6B23923914A7}" srcId="{96D65FC4-85AC-4859-81E7-FA4A16A4160F}" destId="{B6B64139-74C8-4FE4-BDF9-30C3EA35F1E3}" srcOrd="5" destOrd="0" parTransId="{84EFD631-87BD-4A70-B6B9-3BD4F1CDABCE}" sibTransId="{12D85A9E-77F1-4578-A4C6-25414D6D1C74}"/>
    <dgm:cxn modelId="{BE57C67E-5425-2046-88A0-FBB955F982FF}" type="presOf" srcId="{2145312A-1720-48F6-B87F-C51C231925AD}" destId="{9B8566F6-C0A9-4143-9872-0549F74F71F8}" srcOrd="0" destOrd="0" presId="urn:microsoft.com/office/officeart/2005/8/layout/default"/>
    <dgm:cxn modelId="{D447748B-DC3C-4F29-8B6F-4184EBB826E9}" srcId="{96D65FC4-85AC-4859-81E7-FA4A16A4160F}" destId="{551DC2C5-EFCC-432D-877C-F56D370A0AC0}" srcOrd="3" destOrd="0" parTransId="{34BD3246-9C7D-4568-9688-86E48C9E78D5}" sibTransId="{B1D29326-F6A0-46C4-BF78-BE802138ED8D}"/>
    <dgm:cxn modelId="{AFCEBB94-4A85-3A4C-91AA-1FD1AB273F56}" type="presOf" srcId="{0446DA30-2EF7-4BB6-BB63-BAA6BBC10019}" destId="{B632DA9D-1AF1-454A-89E4-C4EEE3D9AD2D}" srcOrd="0" destOrd="0" presId="urn:microsoft.com/office/officeart/2005/8/layout/default"/>
    <dgm:cxn modelId="{3F853A9C-8504-5D41-8537-2951034D9B96}" type="presOf" srcId="{96D65FC4-85AC-4859-81E7-FA4A16A4160F}" destId="{5ABF46B7-8DE0-EF44-AB41-EEDD6DC1767A}" srcOrd="0" destOrd="0" presId="urn:microsoft.com/office/officeart/2005/8/layout/default"/>
    <dgm:cxn modelId="{D12AEB9E-1B9A-9745-92C9-1433A0387D6B}" type="presOf" srcId="{B6B64139-74C8-4FE4-BDF9-30C3EA35F1E3}" destId="{D453FB12-3388-1E4F-9C71-FB8517EA12EB}" srcOrd="0" destOrd="0" presId="urn:microsoft.com/office/officeart/2005/8/layout/default"/>
    <dgm:cxn modelId="{E676ACB1-58DC-402E-976C-9E5EC7A02A83}" srcId="{96D65FC4-85AC-4859-81E7-FA4A16A4160F}" destId="{2145312A-1720-48F6-B87F-C51C231925AD}" srcOrd="1" destOrd="0" parTransId="{6D4A4D30-7B70-448F-B4D3-2E8AE870403A}" sibTransId="{2E7B184E-E778-4EF8-871B-D3DE1BEDDCBE}"/>
    <dgm:cxn modelId="{823CF4B1-D916-E148-B47B-1FDE6CDEB500}" type="presOf" srcId="{551DC2C5-EFCC-432D-877C-F56D370A0AC0}" destId="{EF115672-54C4-D346-986C-405313FE150A}" srcOrd="0" destOrd="0" presId="urn:microsoft.com/office/officeart/2005/8/layout/default"/>
    <dgm:cxn modelId="{0B9CBAC3-944C-443B-AF9B-3BDD7B887FAA}" srcId="{96D65FC4-85AC-4859-81E7-FA4A16A4160F}" destId="{932C94D2-9941-44D2-8808-61B59F00654A}" srcOrd="2" destOrd="0" parTransId="{22DAC5AA-877E-457C-AA82-91939D1CFDD7}" sibTransId="{F6CAAB56-5B3A-4F20-A10C-2DE88ECB5076}"/>
    <dgm:cxn modelId="{2FA2CECC-572A-6740-8DE4-FA71BF371202}" type="presOf" srcId="{A4074513-BFD1-455E-94D5-73B933BF028F}" destId="{DE6A6388-D31C-C544-8596-6EFDE89EC909}" srcOrd="0" destOrd="0" presId="urn:microsoft.com/office/officeart/2005/8/layout/default"/>
    <dgm:cxn modelId="{ABD0F8F2-C532-3944-8275-CEA3B9EAC7DD}" type="presOf" srcId="{932C94D2-9941-44D2-8808-61B59F00654A}" destId="{24CD60A7-B465-2F4B-AB0B-E86D538471B0}" srcOrd="0" destOrd="0" presId="urn:microsoft.com/office/officeart/2005/8/layout/default"/>
    <dgm:cxn modelId="{299041F6-B1D9-484E-8042-DE7B436B35B6}" srcId="{96D65FC4-85AC-4859-81E7-FA4A16A4160F}" destId="{0446DA30-2EF7-4BB6-BB63-BAA6BBC10019}" srcOrd="0" destOrd="0" parTransId="{BF570864-0533-4F9B-91B0-0B733EFF5580}" sibTransId="{1651B4E0-17D8-4119-8C43-94DF1A901929}"/>
    <dgm:cxn modelId="{E85CAD25-F001-CF48-A4CB-68B0154264B0}" type="presParOf" srcId="{5ABF46B7-8DE0-EF44-AB41-EEDD6DC1767A}" destId="{B632DA9D-1AF1-454A-89E4-C4EEE3D9AD2D}" srcOrd="0" destOrd="0" presId="urn:microsoft.com/office/officeart/2005/8/layout/default"/>
    <dgm:cxn modelId="{3C7B0BBA-DBF9-7D40-B623-C6A0D3157BAB}" type="presParOf" srcId="{5ABF46B7-8DE0-EF44-AB41-EEDD6DC1767A}" destId="{A42FE075-8665-A140-BB23-7FD478694141}" srcOrd="1" destOrd="0" presId="urn:microsoft.com/office/officeart/2005/8/layout/default"/>
    <dgm:cxn modelId="{27F87CA2-513A-764B-B013-42BD1A68BF3F}" type="presParOf" srcId="{5ABF46B7-8DE0-EF44-AB41-EEDD6DC1767A}" destId="{9B8566F6-C0A9-4143-9872-0549F74F71F8}" srcOrd="2" destOrd="0" presId="urn:microsoft.com/office/officeart/2005/8/layout/default"/>
    <dgm:cxn modelId="{24BDC14B-A51A-3344-930E-E9DD70581A95}" type="presParOf" srcId="{5ABF46B7-8DE0-EF44-AB41-EEDD6DC1767A}" destId="{3D4C15D4-0992-4743-91BC-4EB39DFF225C}" srcOrd="3" destOrd="0" presId="urn:microsoft.com/office/officeart/2005/8/layout/default"/>
    <dgm:cxn modelId="{556053A6-0C4E-AC4A-9B63-7736CEB60FFA}" type="presParOf" srcId="{5ABF46B7-8DE0-EF44-AB41-EEDD6DC1767A}" destId="{24CD60A7-B465-2F4B-AB0B-E86D538471B0}" srcOrd="4" destOrd="0" presId="urn:microsoft.com/office/officeart/2005/8/layout/default"/>
    <dgm:cxn modelId="{33D84C47-79DE-734F-9737-B4BC48143899}" type="presParOf" srcId="{5ABF46B7-8DE0-EF44-AB41-EEDD6DC1767A}" destId="{816309DC-012A-664D-B83F-33FD1B72EF78}" srcOrd="5" destOrd="0" presId="urn:microsoft.com/office/officeart/2005/8/layout/default"/>
    <dgm:cxn modelId="{1C6DDB5D-073E-E345-AED6-EFE89AFD7E9E}" type="presParOf" srcId="{5ABF46B7-8DE0-EF44-AB41-EEDD6DC1767A}" destId="{EF115672-54C4-D346-986C-405313FE150A}" srcOrd="6" destOrd="0" presId="urn:microsoft.com/office/officeart/2005/8/layout/default"/>
    <dgm:cxn modelId="{08AA5315-3DD7-B543-B7EF-72DA5CB13800}" type="presParOf" srcId="{5ABF46B7-8DE0-EF44-AB41-EEDD6DC1767A}" destId="{D5721845-A8BC-524D-A985-F38146DA419C}" srcOrd="7" destOrd="0" presId="urn:microsoft.com/office/officeart/2005/8/layout/default"/>
    <dgm:cxn modelId="{B3414B5E-EEF1-A24B-8B65-55B99812F0D2}" type="presParOf" srcId="{5ABF46B7-8DE0-EF44-AB41-EEDD6DC1767A}" destId="{DE6A6388-D31C-C544-8596-6EFDE89EC909}" srcOrd="8" destOrd="0" presId="urn:microsoft.com/office/officeart/2005/8/layout/default"/>
    <dgm:cxn modelId="{EBC06741-7413-2B46-8AD6-C2074AD7689A}" type="presParOf" srcId="{5ABF46B7-8DE0-EF44-AB41-EEDD6DC1767A}" destId="{0A1D8C62-A16A-1840-AEAC-90A43286D5E8}" srcOrd="9" destOrd="0" presId="urn:microsoft.com/office/officeart/2005/8/layout/default"/>
    <dgm:cxn modelId="{BEAC8A52-A491-A64F-BF1A-23B6311ADFA8}" type="presParOf" srcId="{5ABF46B7-8DE0-EF44-AB41-EEDD6DC1767A}" destId="{D453FB12-3388-1E4F-9C71-FB8517EA12E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00ED7B-D0AB-40D5-9B65-CE4B15820B1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F3577C3-BDFF-4680-819F-984F1D48AE46}">
      <dgm:prSet/>
      <dgm:spPr/>
      <dgm:t>
        <a:bodyPr/>
        <a:lstStyle/>
        <a:p>
          <a:r>
            <a:rPr lang="en-US"/>
            <a:t>Which user accounts have </a:t>
          </a:r>
          <a:r>
            <a:rPr lang="en-US" b="1"/>
            <a:t>triggered more than 3 high-severity incidents</a:t>
          </a:r>
          <a:r>
            <a:rPr lang="en-US"/>
            <a:t> in a single week?</a:t>
          </a:r>
        </a:p>
      </dgm:t>
    </dgm:pt>
    <dgm:pt modelId="{C65D2B5E-6216-4FBE-8753-78FB13C86CD7}" type="parTrans" cxnId="{E8172652-D113-4C96-9A7D-3FBFA908DB97}">
      <dgm:prSet/>
      <dgm:spPr/>
      <dgm:t>
        <a:bodyPr/>
        <a:lstStyle/>
        <a:p>
          <a:endParaRPr lang="en-US"/>
        </a:p>
      </dgm:t>
    </dgm:pt>
    <dgm:pt modelId="{9F32AB98-F14A-465E-980C-C4A0927DB79C}" type="sibTrans" cxnId="{E8172652-D113-4C96-9A7D-3FBFA908DB97}">
      <dgm:prSet/>
      <dgm:spPr/>
      <dgm:t>
        <a:bodyPr/>
        <a:lstStyle/>
        <a:p>
          <a:endParaRPr lang="en-US"/>
        </a:p>
      </dgm:t>
    </dgm:pt>
    <dgm:pt modelId="{E25D0AD4-EC5E-4C96-A89A-7BEFA4137AEE}">
      <dgm:prSet/>
      <dgm:spPr/>
      <dgm:t>
        <a:bodyPr/>
        <a:lstStyle/>
        <a:p>
          <a:r>
            <a:rPr lang="en-US"/>
            <a:t>What is the </a:t>
          </a:r>
          <a:r>
            <a:rPr lang="en-US" b="1"/>
            <a:t>average time between an alert </a:t>
          </a:r>
          <a:r>
            <a:rPr lang="en-US"/>
            <a:t>being generated and the next alert for the same user account, and does that interval decrease during known attack periods?</a:t>
          </a:r>
        </a:p>
      </dgm:t>
    </dgm:pt>
    <dgm:pt modelId="{59E79B44-3494-4143-9BE0-1E83FE9427C4}" type="parTrans" cxnId="{6FFAA290-0942-4804-AEAB-7C167A44E439}">
      <dgm:prSet/>
      <dgm:spPr/>
      <dgm:t>
        <a:bodyPr/>
        <a:lstStyle/>
        <a:p>
          <a:endParaRPr lang="en-US"/>
        </a:p>
      </dgm:t>
    </dgm:pt>
    <dgm:pt modelId="{91C0F634-A47E-4EED-ACC6-63AB5E807EB4}" type="sibTrans" cxnId="{6FFAA290-0942-4804-AEAB-7C167A44E439}">
      <dgm:prSet/>
      <dgm:spPr/>
      <dgm:t>
        <a:bodyPr/>
        <a:lstStyle/>
        <a:p>
          <a:endParaRPr lang="en-US"/>
        </a:p>
      </dgm:t>
    </dgm:pt>
    <dgm:pt modelId="{CB480025-D031-4D3E-8E31-68D44B4E50B4}">
      <dgm:prSet/>
      <dgm:spPr/>
      <dgm:t>
        <a:bodyPr/>
        <a:lstStyle/>
        <a:p>
          <a:r>
            <a:rPr lang="en-US"/>
            <a:t>Which departments or business units generate the </a:t>
          </a:r>
          <a:r>
            <a:rPr lang="en-US" b="1"/>
            <a:t>highest volume of unresolved medium-to-high alerts</a:t>
          </a:r>
          <a:r>
            <a:rPr lang="en-US"/>
            <a:t>, and what controls can be strengthened there?</a:t>
          </a:r>
        </a:p>
      </dgm:t>
    </dgm:pt>
    <dgm:pt modelId="{6A6577A7-9917-46F8-B211-FA6CC512DE7C}" type="parTrans" cxnId="{02D508A4-21AC-4930-9FCB-3408F2017969}">
      <dgm:prSet/>
      <dgm:spPr/>
      <dgm:t>
        <a:bodyPr/>
        <a:lstStyle/>
        <a:p>
          <a:endParaRPr lang="en-US"/>
        </a:p>
      </dgm:t>
    </dgm:pt>
    <dgm:pt modelId="{DD379FDA-86C3-4695-894A-BA126AE1D509}" type="sibTrans" cxnId="{02D508A4-21AC-4930-9FCB-3408F2017969}">
      <dgm:prSet/>
      <dgm:spPr/>
      <dgm:t>
        <a:bodyPr/>
        <a:lstStyle/>
        <a:p>
          <a:endParaRPr lang="en-US"/>
        </a:p>
      </dgm:t>
    </dgm:pt>
    <dgm:pt modelId="{25FC16BC-4E9E-4D5F-8ECF-4789D8BA6CD4}">
      <dgm:prSet/>
      <dgm:spPr/>
      <dgm:t>
        <a:bodyPr/>
        <a:lstStyle/>
        <a:p>
          <a:r>
            <a:rPr lang="en-US"/>
            <a:t>How many incidents involve </a:t>
          </a:r>
          <a:r>
            <a:rPr lang="en-US" b="1"/>
            <a:t>access attempts outside normal working hours</a:t>
          </a:r>
          <a:r>
            <a:rPr lang="en-US"/>
            <a:t> (6PM-6AM), and how often do those lead to escalation? </a:t>
          </a:r>
        </a:p>
      </dgm:t>
    </dgm:pt>
    <dgm:pt modelId="{7302DAB7-6A21-4B8F-855A-A79A20DF01AD}" type="parTrans" cxnId="{B846A3B7-551A-4426-96AF-D884D6F65588}">
      <dgm:prSet/>
      <dgm:spPr/>
      <dgm:t>
        <a:bodyPr/>
        <a:lstStyle/>
        <a:p>
          <a:endParaRPr lang="en-US"/>
        </a:p>
      </dgm:t>
    </dgm:pt>
    <dgm:pt modelId="{0511899A-C31E-439B-96AC-973688A89EB0}" type="sibTrans" cxnId="{B846A3B7-551A-4426-96AF-D884D6F65588}">
      <dgm:prSet/>
      <dgm:spPr/>
      <dgm:t>
        <a:bodyPr/>
        <a:lstStyle/>
        <a:p>
          <a:endParaRPr lang="en-US"/>
        </a:p>
      </dgm:t>
    </dgm:pt>
    <dgm:pt modelId="{25C4BC06-BB0F-4532-B42B-68F207FEFDEC}">
      <dgm:prSet/>
      <dgm:spPr/>
      <dgm:t>
        <a:bodyPr/>
        <a:lstStyle/>
        <a:p>
          <a:r>
            <a:rPr lang="en-US"/>
            <a:t>What was the </a:t>
          </a:r>
          <a:r>
            <a:rPr lang="en-US" b="1"/>
            <a:t>trend in failed login attempts</a:t>
          </a:r>
          <a:r>
            <a:rPr lang="en-US"/>
            <a:t> over the last 30 days, and were there any spikes on specific dates?</a:t>
          </a:r>
        </a:p>
      </dgm:t>
    </dgm:pt>
    <dgm:pt modelId="{943A7208-9376-4964-A265-A062EA94C382}" type="parTrans" cxnId="{FAF7F7F7-EA69-4A54-B49E-C6C081BE238B}">
      <dgm:prSet/>
      <dgm:spPr/>
      <dgm:t>
        <a:bodyPr/>
        <a:lstStyle/>
        <a:p>
          <a:endParaRPr lang="en-US"/>
        </a:p>
      </dgm:t>
    </dgm:pt>
    <dgm:pt modelId="{ECB8DA74-7AA7-4386-8784-8DEFCF1C9C61}" type="sibTrans" cxnId="{FAF7F7F7-EA69-4A54-B49E-C6C081BE238B}">
      <dgm:prSet/>
      <dgm:spPr/>
      <dgm:t>
        <a:bodyPr/>
        <a:lstStyle/>
        <a:p>
          <a:endParaRPr lang="en-US"/>
        </a:p>
      </dgm:t>
    </dgm:pt>
    <dgm:pt modelId="{272C1CEC-3EEE-CC48-B549-F7A6F0729189}" type="pres">
      <dgm:prSet presAssocID="{EE00ED7B-D0AB-40D5-9B65-CE4B15820B13}" presName="vert0" presStyleCnt="0">
        <dgm:presLayoutVars>
          <dgm:dir/>
          <dgm:animOne val="branch"/>
          <dgm:animLvl val="lvl"/>
        </dgm:presLayoutVars>
      </dgm:prSet>
      <dgm:spPr/>
    </dgm:pt>
    <dgm:pt modelId="{5CB3AC12-9337-D844-A8BB-E1BACE5CCAC9}" type="pres">
      <dgm:prSet presAssocID="{1F3577C3-BDFF-4680-819F-984F1D48AE46}" presName="thickLine" presStyleLbl="alignNode1" presStyleIdx="0" presStyleCnt="5"/>
      <dgm:spPr/>
    </dgm:pt>
    <dgm:pt modelId="{27ED14BC-E7EF-D549-ACFA-084085FEB510}" type="pres">
      <dgm:prSet presAssocID="{1F3577C3-BDFF-4680-819F-984F1D48AE46}" presName="horz1" presStyleCnt="0"/>
      <dgm:spPr/>
    </dgm:pt>
    <dgm:pt modelId="{3AB0D5B6-6210-0243-982C-FC5E62AD7FAA}" type="pres">
      <dgm:prSet presAssocID="{1F3577C3-BDFF-4680-819F-984F1D48AE46}" presName="tx1" presStyleLbl="revTx" presStyleIdx="0" presStyleCnt="5"/>
      <dgm:spPr/>
    </dgm:pt>
    <dgm:pt modelId="{A6A64420-141A-4F4E-8A2A-E70BFBBFCC29}" type="pres">
      <dgm:prSet presAssocID="{1F3577C3-BDFF-4680-819F-984F1D48AE46}" presName="vert1" presStyleCnt="0"/>
      <dgm:spPr/>
    </dgm:pt>
    <dgm:pt modelId="{B5ABCB78-18D8-AF4F-B970-8444B21DF509}" type="pres">
      <dgm:prSet presAssocID="{E25D0AD4-EC5E-4C96-A89A-7BEFA4137AEE}" presName="thickLine" presStyleLbl="alignNode1" presStyleIdx="1" presStyleCnt="5"/>
      <dgm:spPr/>
    </dgm:pt>
    <dgm:pt modelId="{C4C9A4BD-D3C1-5941-8FEE-7D24108B35DF}" type="pres">
      <dgm:prSet presAssocID="{E25D0AD4-EC5E-4C96-A89A-7BEFA4137AEE}" presName="horz1" presStyleCnt="0"/>
      <dgm:spPr/>
    </dgm:pt>
    <dgm:pt modelId="{1379006D-7123-5641-98D2-60C4A2A642C8}" type="pres">
      <dgm:prSet presAssocID="{E25D0AD4-EC5E-4C96-A89A-7BEFA4137AEE}" presName="tx1" presStyleLbl="revTx" presStyleIdx="1" presStyleCnt="5"/>
      <dgm:spPr/>
    </dgm:pt>
    <dgm:pt modelId="{623D9D6B-3427-6B4E-8A8E-5A07E14A01EF}" type="pres">
      <dgm:prSet presAssocID="{E25D0AD4-EC5E-4C96-A89A-7BEFA4137AEE}" presName="vert1" presStyleCnt="0"/>
      <dgm:spPr/>
    </dgm:pt>
    <dgm:pt modelId="{961679F6-0B4A-2949-A620-4A3800BDB412}" type="pres">
      <dgm:prSet presAssocID="{CB480025-D031-4D3E-8E31-68D44B4E50B4}" presName="thickLine" presStyleLbl="alignNode1" presStyleIdx="2" presStyleCnt="5"/>
      <dgm:spPr/>
    </dgm:pt>
    <dgm:pt modelId="{7ECA4DDD-1A8D-6C41-8182-FC31B6F95668}" type="pres">
      <dgm:prSet presAssocID="{CB480025-D031-4D3E-8E31-68D44B4E50B4}" presName="horz1" presStyleCnt="0"/>
      <dgm:spPr/>
    </dgm:pt>
    <dgm:pt modelId="{32032DAB-564D-0345-876E-8F8B7D7704D8}" type="pres">
      <dgm:prSet presAssocID="{CB480025-D031-4D3E-8E31-68D44B4E50B4}" presName="tx1" presStyleLbl="revTx" presStyleIdx="2" presStyleCnt="5"/>
      <dgm:spPr/>
    </dgm:pt>
    <dgm:pt modelId="{4963C052-3004-9F4A-9A22-2D3352BC0893}" type="pres">
      <dgm:prSet presAssocID="{CB480025-D031-4D3E-8E31-68D44B4E50B4}" presName="vert1" presStyleCnt="0"/>
      <dgm:spPr/>
    </dgm:pt>
    <dgm:pt modelId="{E2FA983C-9F72-8244-B3A8-274247953F17}" type="pres">
      <dgm:prSet presAssocID="{25FC16BC-4E9E-4D5F-8ECF-4789D8BA6CD4}" presName="thickLine" presStyleLbl="alignNode1" presStyleIdx="3" presStyleCnt="5"/>
      <dgm:spPr/>
    </dgm:pt>
    <dgm:pt modelId="{A621F866-C4CA-9A41-964E-AE56C7EAC0AD}" type="pres">
      <dgm:prSet presAssocID="{25FC16BC-4E9E-4D5F-8ECF-4789D8BA6CD4}" presName="horz1" presStyleCnt="0"/>
      <dgm:spPr/>
    </dgm:pt>
    <dgm:pt modelId="{85B0CBF8-D7DF-744C-9FC6-FA83E4C0D117}" type="pres">
      <dgm:prSet presAssocID="{25FC16BC-4E9E-4D5F-8ECF-4789D8BA6CD4}" presName="tx1" presStyleLbl="revTx" presStyleIdx="3" presStyleCnt="5"/>
      <dgm:spPr/>
    </dgm:pt>
    <dgm:pt modelId="{65B01EE8-0DFE-9B49-87CF-9C9BF2D3DA21}" type="pres">
      <dgm:prSet presAssocID="{25FC16BC-4E9E-4D5F-8ECF-4789D8BA6CD4}" presName="vert1" presStyleCnt="0"/>
      <dgm:spPr/>
    </dgm:pt>
    <dgm:pt modelId="{756FEEDC-4A80-FC48-8D23-65D104AA1ECC}" type="pres">
      <dgm:prSet presAssocID="{25C4BC06-BB0F-4532-B42B-68F207FEFDEC}" presName="thickLine" presStyleLbl="alignNode1" presStyleIdx="4" presStyleCnt="5"/>
      <dgm:spPr/>
    </dgm:pt>
    <dgm:pt modelId="{26FB3DD4-0EA0-8048-AC3C-277AFC833413}" type="pres">
      <dgm:prSet presAssocID="{25C4BC06-BB0F-4532-B42B-68F207FEFDEC}" presName="horz1" presStyleCnt="0"/>
      <dgm:spPr/>
    </dgm:pt>
    <dgm:pt modelId="{21EB30A1-5785-E548-B77D-E503CFCD1572}" type="pres">
      <dgm:prSet presAssocID="{25C4BC06-BB0F-4532-B42B-68F207FEFDEC}" presName="tx1" presStyleLbl="revTx" presStyleIdx="4" presStyleCnt="5"/>
      <dgm:spPr/>
    </dgm:pt>
    <dgm:pt modelId="{AACB7524-2BFF-B740-A425-CE7AE22E99B3}" type="pres">
      <dgm:prSet presAssocID="{25C4BC06-BB0F-4532-B42B-68F207FEFDEC}" presName="vert1" presStyleCnt="0"/>
      <dgm:spPr/>
    </dgm:pt>
  </dgm:ptLst>
  <dgm:cxnLst>
    <dgm:cxn modelId="{E8172652-D113-4C96-9A7D-3FBFA908DB97}" srcId="{EE00ED7B-D0AB-40D5-9B65-CE4B15820B13}" destId="{1F3577C3-BDFF-4680-819F-984F1D48AE46}" srcOrd="0" destOrd="0" parTransId="{C65D2B5E-6216-4FBE-8753-78FB13C86CD7}" sibTransId="{9F32AB98-F14A-465E-980C-C4A0927DB79C}"/>
    <dgm:cxn modelId="{BB434654-DF19-E14E-A3CF-8448C18C9D8B}" type="presOf" srcId="{CB480025-D031-4D3E-8E31-68D44B4E50B4}" destId="{32032DAB-564D-0345-876E-8F8B7D7704D8}" srcOrd="0" destOrd="0" presId="urn:microsoft.com/office/officeart/2008/layout/LinedList"/>
    <dgm:cxn modelId="{4A5CE755-F67D-CB41-96BB-385B08681155}" type="presOf" srcId="{25C4BC06-BB0F-4532-B42B-68F207FEFDEC}" destId="{21EB30A1-5785-E548-B77D-E503CFCD1572}" srcOrd="0" destOrd="0" presId="urn:microsoft.com/office/officeart/2008/layout/LinedList"/>
    <dgm:cxn modelId="{847BCA69-1417-0C41-BEB0-283A3F8B0EC1}" type="presOf" srcId="{EE00ED7B-D0AB-40D5-9B65-CE4B15820B13}" destId="{272C1CEC-3EEE-CC48-B549-F7A6F0729189}" srcOrd="0" destOrd="0" presId="urn:microsoft.com/office/officeart/2008/layout/LinedList"/>
    <dgm:cxn modelId="{E7CEF885-2091-D64A-AAB2-24FA8018BA5B}" type="presOf" srcId="{1F3577C3-BDFF-4680-819F-984F1D48AE46}" destId="{3AB0D5B6-6210-0243-982C-FC5E62AD7FAA}" srcOrd="0" destOrd="0" presId="urn:microsoft.com/office/officeart/2008/layout/LinedList"/>
    <dgm:cxn modelId="{6FFAA290-0942-4804-AEAB-7C167A44E439}" srcId="{EE00ED7B-D0AB-40D5-9B65-CE4B15820B13}" destId="{E25D0AD4-EC5E-4C96-A89A-7BEFA4137AEE}" srcOrd="1" destOrd="0" parTransId="{59E79B44-3494-4143-9BE0-1E83FE9427C4}" sibTransId="{91C0F634-A47E-4EED-ACC6-63AB5E807EB4}"/>
    <dgm:cxn modelId="{02D508A4-21AC-4930-9FCB-3408F2017969}" srcId="{EE00ED7B-D0AB-40D5-9B65-CE4B15820B13}" destId="{CB480025-D031-4D3E-8E31-68D44B4E50B4}" srcOrd="2" destOrd="0" parTransId="{6A6577A7-9917-46F8-B211-FA6CC512DE7C}" sibTransId="{DD379FDA-86C3-4695-894A-BA126AE1D509}"/>
    <dgm:cxn modelId="{B846A3B7-551A-4426-96AF-D884D6F65588}" srcId="{EE00ED7B-D0AB-40D5-9B65-CE4B15820B13}" destId="{25FC16BC-4E9E-4D5F-8ECF-4789D8BA6CD4}" srcOrd="3" destOrd="0" parTransId="{7302DAB7-6A21-4B8F-855A-A79A20DF01AD}" sibTransId="{0511899A-C31E-439B-96AC-973688A89EB0}"/>
    <dgm:cxn modelId="{85842FBF-2CA3-554E-B777-6F2F1FB0C96E}" type="presOf" srcId="{E25D0AD4-EC5E-4C96-A89A-7BEFA4137AEE}" destId="{1379006D-7123-5641-98D2-60C4A2A642C8}" srcOrd="0" destOrd="0" presId="urn:microsoft.com/office/officeart/2008/layout/LinedList"/>
    <dgm:cxn modelId="{BCE5E3CF-EEEA-6749-8E1A-4645082495D7}" type="presOf" srcId="{25FC16BC-4E9E-4D5F-8ECF-4789D8BA6CD4}" destId="{85B0CBF8-D7DF-744C-9FC6-FA83E4C0D117}" srcOrd="0" destOrd="0" presId="urn:microsoft.com/office/officeart/2008/layout/LinedList"/>
    <dgm:cxn modelId="{FAF7F7F7-EA69-4A54-B49E-C6C081BE238B}" srcId="{EE00ED7B-D0AB-40D5-9B65-CE4B15820B13}" destId="{25C4BC06-BB0F-4532-B42B-68F207FEFDEC}" srcOrd="4" destOrd="0" parTransId="{943A7208-9376-4964-A265-A062EA94C382}" sibTransId="{ECB8DA74-7AA7-4386-8784-8DEFCF1C9C61}"/>
    <dgm:cxn modelId="{370BF621-BED2-1246-AA44-01214A8771CF}" type="presParOf" srcId="{272C1CEC-3EEE-CC48-B549-F7A6F0729189}" destId="{5CB3AC12-9337-D844-A8BB-E1BACE5CCAC9}" srcOrd="0" destOrd="0" presId="urn:microsoft.com/office/officeart/2008/layout/LinedList"/>
    <dgm:cxn modelId="{98260AAF-2E3C-8D4E-A772-0FB26BA87F47}" type="presParOf" srcId="{272C1CEC-3EEE-CC48-B549-F7A6F0729189}" destId="{27ED14BC-E7EF-D549-ACFA-084085FEB510}" srcOrd="1" destOrd="0" presId="urn:microsoft.com/office/officeart/2008/layout/LinedList"/>
    <dgm:cxn modelId="{B201C58B-609B-2A4A-B020-0B8F6C970733}" type="presParOf" srcId="{27ED14BC-E7EF-D549-ACFA-084085FEB510}" destId="{3AB0D5B6-6210-0243-982C-FC5E62AD7FAA}" srcOrd="0" destOrd="0" presId="urn:microsoft.com/office/officeart/2008/layout/LinedList"/>
    <dgm:cxn modelId="{5FBC27EB-0B2C-F945-91B1-8F1D7C2124D5}" type="presParOf" srcId="{27ED14BC-E7EF-D549-ACFA-084085FEB510}" destId="{A6A64420-141A-4F4E-8A2A-E70BFBBFCC29}" srcOrd="1" destOrd="0" presId="urn:microsoft.com/office/officeart/2008/layout/LinedList"/>
    <dgm:cxn modelId="{17A6CE79-C827-6F4C-BACD-1A5ECA6DB85B}" type="presParOf" srcId="{272C1CEC-3EEE-CC48-B549-F7A6F0729189}" destId="{B5ABCB78-18D8-AF4F-B970-8444B21DF509}" srcOrd="2" destOrd="0" presId="urn:microsoft.com/office/officeart/2008/layout/LinedList"/>
    <dgm:cxn modelId="{B5C9203F-D687-2846-B00F-E8FD22F56AC4}" type="presParOf" srcId="{272C1CEC-3EEE-CC48-B549-F7A6F0729189}" destId="{C4C9A4BD-D3C1-5941-8FEE-7D24108B35DF}" srcOrd="3" destOrd="0" presId="urn:microsoft.com/office/officeart/2008/layout/LinedList"/>
    <dgm:cxn modelId="{4860B072-82C9-E644-9DA4-9BAE639D0158}" type="presParOf" srcId="{C4C9A4BD-D3C1-5941-8FEE-7D24108B35DF}" destId="{1379006D-7123-5641-98D2-60C4A2A642C8}" srcOrd="0" destOrd="0" presId="urn:microsoft.com/office/officeart/2008/layout/LinedList"/>
    <dgm:cxn modelId="{F08D4A67-4B97-414E-AED6-B6FBF5806FD8}" type="presParOf" srcId="{C4C9A4BD-D3C1-5941-8FEE-7D24108B35DF}" destId="{623D9D6B-3427-6B4E-8A8E-5A07E14A01EF}" srcOrd="1" destOrd="0" presId="urn:microsoft.com/office/officeart/2008/layout/LinedList"/>
    <dgm:cxn modelId="{14765D84-C48F-D849-8368-5814328896AC}" type="presParOf" srcId="{272C1CEC-3EEE-CC48-B549-F7A6F0729189}" destId="{961679F6-0B4A-2949-A620-4A3800BDB412}" srcOrd="4" destOrd="0" presId="urn:microsoft.com/office/officeart/2008/layout/LinedList"/>
    <dgm:cxn modelId="{2FA21692-72DF-7445-8457-28762D2B827B}" type="presParOf" srcId="{272C1CEC-3EEE-CC48-B549-F7A6F0729189}" destId="{7ECA4DDD-1A8D-6C41-8182-FC31B6F95668}" srcOrd="5" destOrd="0" presId="urn:microsoft.com/office/officeart/2008/layout/LinedList"/>
    <dgm:cxn modelId="{39DFCCAD-98A7-9344-9673-7CD442A9609F}" type="presParOf" srcId="{7ECA4DDD-1A8D-6C41-8182-FC31B6F95668}" destId="{32032DAB-564D-0345-876E-8F8B7D7704D8}" srcOrd="0" destOrd="0" presId="urn:microsoft.com/office/officeart/2008/layout/LinedList"/>
    <dgm:cxn modelId="{4B539511-52F7-4649-AA72-797B7F8D0FE1}" type="presParOf" srcId="{7ECA4DDD-1A8D-6C41-8182-FC31B6F95668}" destId="{4963C052-3004-9F4A-9A22-2D3352BC0893}" srcOrd="1" destOrd="0" presId="urn:microsoft.com/office/officeart/2008/layout/LinedList"/>
    <dgm:cxn modelId="{C6E7E3F1-8BF2-3445-9C95-BF3E63139B12}" type="presParOf" srcId="{272C1CEC-3EEE-CC48-B549-F7A6F0729189}" destId="{E2FA983C-9F72-8244-B3A8-274247953F17}" srcOrd="6" destOrd="0" presId="urn:microsoft.com/office/officeart/2008/layout/LinedList"/>
    <dgm:cxn modelId="{DC22B725-73E3-5548-8B7B-90F86063BD53}" type="presParOf" srcId="{272C1CEC-3EEE-CC48-B549-F7A6F0729189}" destId="{A621F866-C4CA-9A41-964E-AE56C7EAC0AD}" srcOrd="7" destOrd="0" presId="urn:microsoft.com/office/officeart/2008/layout/LinedList"/>
    <dgm:cxn modelId="{4C044CBE-57F4-484C-994D-C0FE784A4CDC}" type="presParOf" srcId="{A621F866-C4CA-9A41-964E-AE56C7EAC0AD}" destId="{85B0CBF8-D7DF-744C-9FC6-FA83E4C0D117}" srcOrd="0" destOrd="0" presId="urn:microsoft.com/office/officeart/2008/layout/LinedList"/>
    <dgm:cxn modelId="{523E17F4-6C00-C942-8593-32E3C437A523}" type="presParOf" srcId="{A621F866-C4CA-9A41-964E-AE56C7EAC0AD}" destId="{65B01EE8-0DFE-9B49-87CF-9C9BF2D3DA21}" srcOrd="1" destOrd="0" presId="urn:microsoft.com/office/officeart/2008/layout/LinedList"/>
    <dgm:cxn modelId="{184D1020-C1F0-FF41-A5D7-D5418DF99F7F}" type="presParOf" srcId="{272C1CEC-3EEE-CC48-B549-F7A6F0729189}" destId="{756FEEDC-4A80-FC48-8D23-65D104AA1ECC}" srcOrd="8" destOrd="0" presId="urn:microsoft.com/office/officeart/2008/layout/LinedList"/>
    <dgm:cxn modelId="{6D1C5C9D-3B4F-0241-8471-A1B2FC080C0A}" type="presParOf" srcId="{272C1CEC-3EEE-CC48-B549-F7A6F0729189}" destId="{26FB3DD4-0EA0-8048-AC3C-277AFC833413}" srcOrd="9" destOrd="0" presId="urn:microsoft.com/office/officeart/2008/layout/LinedList"/>
    <dgm:cxn modelId="{1F807290-585E-904C-875A-CCAEBB14CF0D}" type="presParOf" srcId="{26FB3DD4-0EA0-8048-AC3C-277AFC833413}" destId="{21EB30A1-5785-E548-B77D-E503CFCD1572}" srcOrd="0" destOrd="0" presId="urn:microsoft.com/office/officeart/2008/layout/LinedList"/>
    <dgm:cxn modelId="{EC09BB67-ACBF-454C-B93E-4BEE494F4011}" type="presParOf" srcId="{26FB3DD4-0EA0-8048-AC3C-277AFC833413}" destId="{AACB7524-2BFF-B740-A425-CE7AE22E99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6CC2A2-F7F8-4B73-AA44-193F9E5988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E81EFF9-FBC7-4059-829A-A42089BCB5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Account 673934 triggered unusually high volumes of high-severity alerts</a:t>
          </a:r>
        </a:p>
      </dgm:t>
    </dgm:pt>
    <dgm:pt modelId="{CC8A166C-1626-4F06-8562-AD2CCBF33E59}" type="parTrans" cxnId="{63D0E09F-8916-469E-865F-C205E73838F5}">
      <dgm:prSet/>
      <dgm:spPr/>
      <dgm:t>
        <a:bodyPr/>
        <a:lstStyle/>
        <a:p>
          <a:endParaRPr lang="en-US"/>
        </a:p>
      </dgm:t>
    </dgm:pt>
    <dgm:pt modelId="{4EED748B-70ED-4F95-BBD0-B2F490F0D316}" type="sibTrans" cxnId="{63D0E09F-8916-469E-865F-C205E73838F5}">
      <dgm:prSet/>
      <dgm:spPr/>
      <dgm:t>
        <a:bodyPr/>
        <a:lstStyle/>
        <a:p>
          <a:endParaRPr lang="en-US"/>
        </a:p>
      </dgm:t>
    </dgm:pt>
    <dgm:pt modelId="{B9132AF5-5A9E-41DA-B2DD-8B1C914C6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Organizations 738, 73, and 116 showed the largest clusters of unresolved incidents</a:t>
          </a:r>
        </a:p>
      </dgm:t>
    </dgm:pt>
    <dgm:pt modelId="{101093DA-420B-46B7-AD54-E4D94D817282}" type="parTrans" cxnId="{20F1519C-79ED-4EC0-A168-A31BBD82EE26}">
      <dgm:prSet/>
      <dgm:spPr/>
      <dgm:t>
        <a:bodyPr/>
        <a:lstStyle/>
        <a:p>
          <a:endParaRPr lang="en-US"/>
        </a:p>
      </dgm:t>
    </dgm:pt>
    <dgm:pt modelId="{F1A49A0B-B60B-46CE-B488-D48B2558E787}" type="sibTrans" cxnId="{20F1519C-79ED-4EC0-A168-A31BBD82EE26}">
      <dgm:prSet/>
      <dgm:spPr/>
      <dgm:t>
        <a:bodyPr/>
        <a:lstStyle/>
        <a:p>
          <a:endParaRPr lang="en-US"/>
        </a:p>
      </dgm:t>
    </dgm:pt>
    <dgm:pt modelId="{B1DB190A-F8BC-4B01-B791-2AA657E297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Off-hours access patterns indicate potential automation or malware beaconing</a:t>
          </a:r>
        </a:p>
      </dgm:t>
    </dgm:pt>
    <dgm:pt modelId="{EFF527F7-A3B7-47BA-831C-C95B70CD4C6A}" type="parTrans" cxnId="{644C617F-63E2-45D1-A9D4-50ED4FD31754}">
      <dgm:prSet/>
      <dgm:spPr/>
      <dgm:t>
        <a:bodyPr/>
        <a:lstStyle/>
        <a:p>
          <a:endParaRPr lang="en-US"/>
        </a:p>
      </dgm:t>
    </dgm:pt>
    <dgm:pt modelId="{A31E8812-B7F1-462B-8496-326054E59EEC}" type="sibTrans" cxnId="{644C617F-63E2-45D1-A9D4-50ED4FD31754}">
      <dgm:prSet/>
      <dgm:spPr/>
      <dgm:t>
        <a:bodyPr/>
        <a:lstStyle/>
        <a:p>
          <a:endParaRPr lang="en-US"/>
        </a:p>
      </dgm:t>
    </dgm:pt>
    <dgm:pt modelId="{7C606AEA-AB2B-4ADE-88E9-595ACA895D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account generated alerts seconds apart, suggesting scripted behavior</a:t>
          </a:r>
        </a:p>
      </dgm:t>
    </dgm:pt>
    <dgm:pt modelId="{6C2ACB2E-DED6-4521-82D5-17C648576EA5}" type="parTrans" cxnId="{70D5F2B9-811F-4CF8-B406-0304144DC60C}">
      <dgm:prSet/>
      <dgm:spPr/>
      <dgm:t>
        <a:bodyPr/>
        <a:lstStyle/>
        <a:p>
          <a:endParaRPr lang="en-US"/>
        </a:p>
      </dgm:t>
    </dgm:pt>
    <dgm:pt modelId="{A534F54A-263A-4157-9B5B-87EC9D6ACCCD}" type="sibTrans" cxnId="{70D5F2B9-811F-4CF8-B406-0304144DC60C}">
      <dgm:prSet/>
      <dgm:spPr/>
      <dgm:t>
        <a:bodyPr/>
        <a:lstStyle/>
        <a:p>
          <a:endParaRPr lang="en-US"/>
        </a:p>
      </dgm:t>
    </dgm:pt>
    <dgm:pt modelId="{8D801643-E491-40B2-8AAC-7B1FC4E763A7}" type="pres">
      <dgm:prSet presAssocID="{4D6CC2A2-F7F8-4B73-AA44-193F9E5988F9}" presName="root" presStyleCnt="0">
        <dgm:presLayoutVars>
          <dgm:dir/>
          <dgm:resizeHandles val="exact"/>
        </dgm:presLayoutVars>
      </dgm:prSet>
      <dgm:spPr/>
    </dgm:pt>
    <dgm:pt modelId="{DC0B2282-3706-40B5-ABD3-30DC931ED030}" type="pres">
      <dgm:prSet presAssocID="{0E81EFF9-FBC7-4059-829A-A42089BCB5BB}" presName="compNode" presStyleCnt="0"/>
      <dgm:spPr/>
    </dgm:pt>
    <dgm:pt modelId="{15A8B82A-9902-4921-87AB-D3D6510DFAE9}" type="pres">
      <dgm:prSet presAssocID="{0E81EFF9-FBC7-4059-829A-A42089BCB5BB}" presName="bgRect" presStyleLbl="bgShp" presStyleIdx="0" presStyleCnt="4"/>
      <dgm:spPr>
        <a:solidFill>
          <a:schemeClr val="accent2">
            <a:lumMod val="50000"/>
          </a:schemeClr>
        </a:solidFill>
      </dgm:spPr>
    </dgm:pt>
    <dgm:pt modelId="{3D3A1EDE-EDFB-44BF-8BF8-DC12B616D2C1}" type="pres">
      <dgm:prSet presAssocID="{0E81EFF9-FBC7-4059-829A-A42089BCB5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B72D1A29-7160-47BC-935C-E05BE8E90F7C}" type="pres">
      <dgm:prSet presAssocID="{0E81EFF9-FBC7-4059-829A-A42089BCB5BB}" presName="spaceRect" presStyleCnt="0"/>
      <dgm:spPr/>
    </dgm:pt>
    <dgm:pt modelId="{B27E5A54-2CC3-4AE3-A942-6CF6BA84C1BE}" type="pres">
      <dgm:prSet presAssocID="{0E81EFF9-FBC7-4059-829A-A42089BCB5BB}" presName="parTx" presStyleLbl="revTx" presStyleIdx="0" presStyleCnt="4">
        <dgm:presLayoutVars>
          <dgm:chMax val="0"/>
          <dgm:chPref val="0"/>
        </dgm:presLayoutVars>
      </dgm:prSet>
      <dgm:spPr/>
    </dgm:pt>
    <dgm:pt modelId="{2763C127-C38A-4655-B054-199EAB6417E8}" type="pres">
      <dgm:prSet presAssocID="{4EED748B-70ED-4F95-BBD0-B2F490F0D316}" presName="sibTrans" presStyleCnt="0"/>
      <dgm:spPr/>
    </dgm:pt>
    <dgm:pt modelId="{888B5E9B-B622-4B1C-A6B8-32B2E0CD70BC}" type="pres">
      <dgm:prSet presAssocID="{B9132AF5-5A9E-41DA-B2DD-8B1C914C6A66}" presName="compNode" presStyleCnt="0"/>
      <dgm:spPr/>
    </dgm:pt>
    <dgm:pt modelId="{5D3C6C94-183F-4AE1-8321-0F11CB548F72}" type="pres">
      <dgm:prSet presAssocID="{B9132AF5-5A9E-41DA-B2DD-8B1C914C6A66}" presName="bgRect" presStyleLbl="bgShp" presStyleIdx="1" presStyleCnt="4"/>
      <dgm:spPr>
        <a:solidFill>
          <a:schemeClr val="accent2">
            <a:lumMod val="75000"/>
          </a:schemeClr>
        </a:solidFill>
      </dgm:spPr>
    </dgm:pt>
    <dgm:pt modelId="{0CFCF35B-2602-435D-BD8B-CCA4CBDFEB8F}" type="pres">
      <dgm:prSet presAssocID="{B9132AF5-5A9E-41DA-B2DD-8B1C914C6A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FD4D0CB-9E04-4178-89F9-7F6ABC5F3819}" type="pres">
      <dgm:prSet presAssocID="{B9132AF5-5A9E-41DA-B2DD-8B1C914C6A66}" presName="spaceRect" presStyleCnt="0"/>
      <dgm:spPr/>
    </dgm:pt>
    <dgm:pt modelId="{35BDEC07-F0A6-4141-8EAB-A322EFEBAFEB}" type="pres">
      <dgm:prSet presAssocID="{B9132AF5-5A9E-41DA-B2DD-8B1C914C6A66}" presName="parTx" presStyleLbl="revTx" presStyleIdx="1" presStyleCnt="4">
        <dgm:presLayoutVars>
          <dgm:chMax val="0"/>
          <dgm:chPref val="0"/>
        </dgm:presLayoutVars>
      </dgm:prSet>
      <dgm:spPr/>
    </dgm:pt>
    <dgm:pt modelId="{37C756BF-8DCA-4988-A060-47F6CFD43903}" type="pres">
      <dgm:prSet presAssocID="{F1A49A0B-B60B-46CE-B488-D48B2558E787}" presName="sibTrans" presStyleCnt="0"/>
      <dgm:spPr/>
    </dgm:pt>
    <dgm:pt modelId="{770C7C0D-0AF3-4BE1-91BE-1C8864385A64}" type="pres">
      <dgm:prSet presAssocID="{B1DB190A-F8BC-4B01-B791-2AA657E29745}" presName="compNode" presStyleCnt="0"/>
      <dgm:spPr/>
    </dgm:pt>
    <dgm:pt modelId="{C8F3ABA8-21FB-416A-A93D-9C233F42D686}" type="pres">
      <dgm:prSet presAssocID="{B1DB190A-F8BC-4B01-B791-2AA657E29745}" presName="bgRect" presStyleLbl="bgShp" presStyleIdx="2" presStyleCnt="4"/>
      <dgm:spPr>
        <a:solidFill>
          <a:schemeClr val="accent2">
            <a:lumMod val="60000"/>
            <a:lumOff val="40000"/>
          </a:schemeClr>
        </a:solidFill>
      </dgm:spPr>
    </dgm:pt>
    <dgm:pt modelId="{9C3B340B-5B41-41F9-8A00-A2924C5EDABC}" type="pres">
      <dgm:prSet presAssocID="{B1DB190A-F8BC-4B01-B791-2AA657E297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E4AE6434-B39B-4790-8C1E-0723203742E0}" type="pres">
      <dgm:prSet presAssocID="{B1DB190A-F8BC-4B01-B791-2AA657E29745}" presName="spaceRect" presStyleCnt="0"/>
      <dgm:spPr/>
    </dgm:pt>
    <dgm:pt modelId="{19441B09-C972-4EE3-A8F7-964F1BD4970B}" type="pres">
      <dgm:prSet presAssocID="{B1DB190A-F8BC-4B01-B791-2AA657E29745}" presName="parTx" presStyleLbl="revTx" presStyleIdx="2" presStyleCnt="4">
        <dgm:presLayoutVars>
          <dgm:chMax val="0"/>
          <dgm:chPref val="0"/>
        </dgm:presLayoutVars>
      </dgm:prSet>
      <dgm:spPr/>
    </dgm:pt>
    <dgm:pt modelId="{26ACF56C-B57C-4D1E-B87A-65724AF409B9}" type="pres">
      <dgm:prSet presAssocID="{A31E8812-B7F1-462B-8496-326054E59EEC}" presName="sibTrans" presStyleCnt="0"/>
      <dgm:spPr/>
    </dgm:pt>
    <dgm:pt modelId="{0DF57CD0-1F90-469C-A8A7-86128BB54481}" type="pres">
      <dgm:prSet presAssocID="{7C606AEA-AB2B-4ADE-88E9-595ACA895D96}" presName="compNode" presStyleCnt="0"/>
      <dgm:spPr/>
    </dgm:pt>
    <dgm:pt modelId="{AAEB9AE7-632C-4306-97BD-B682B7B55675}" type="pres">
      <dgm:prSet presAssocID="{7C606AEA-AB2B-4ADE-88E9-595ACA895D96}" presName="bgRect" presStyleLbl="bgShp" presStyleIdx="3" presStyleCnt="4"/>
      <dgm:spPr>
        <a:solidFill>
          <a:schemeClr val="accent2">
            <a:lumMod val="40000"/>
            <a:lumOff val="60000"/>
          </a:schemeClr>
        </a:solidFill>
      </dgm:spPr>
    </dgm:pt>
    <dgm:pt modelId="{07BF43DC-AD52-4184-824F-1C8A864F29F4}" type="pres">
      <dgm:prSet presAssocID="{7C606AEA-AB2B-4ADE-88E9-595ACA895D9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5CAC0F2D-2168-4528-A7F7-F63234C1454C}" type="pres">
      <dgm:prSet presAssocID="{7C606AEA-AB2B-4ADE-88E9-595ACA895D96}" presName="spaceRect" presStyleCnt="0"/>
      <dgm:spPr/>
    </dgm:pt>
    <dgm:pt modelId="{E0C6D59E-E331-45AA-A6E5-BC43D69B8321}" type="pres">
      <dgm:prSet presAssocID="{7C606AEA-AB2B-4ADE-88E9-595ACA895D9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85021C-2898-4804-BE5A-21DE07D2E405}" type="presOf" srcId="{B1DB190A-F8BC-4B01-B791-2AA657E29745}" destId="{19441B09-C972-4EE3-A8F7-964F1BD4970B}" srcOrd="0" destOrd="0" presId="urn:microsoft.com/office/officeart/2018/2/layout/IconVerticalSolidList"/>
    <dgm:cxn modelId="{B006E51D-3C82-42E5-935F-DBAB7D10924B}" type="presOf" srcId="{7C606AEA-AB2B-4ADE-88E9-595ACA895D96}" destId="{E0C6D59E-E331-45AA-A6E5-BC43D69B8321}" srcOrd="0" destOrd="0" presId="urn:microsoft.com/office/officeart/2018/2/layout/IconVerticalSolidList"/>
    <dgm:cxn modelId="{3AE28047-53E9-47E0-9802-B46676FFE5BE}" type="presOf" srcId="{0E81EFF9-FBC7-4059-829A-A42089BCB5BB}" destId="{B27E5A54-2CC3-4AE3-A942-6CF6BA84C1BE}" srcOrd="0" destOrd="0" presId="urn:microsoft.com/office/officeart/2018/2/layout/IconVerticalSolidList"/>
    <dgm:cxn modelId="{644C617F-63E2-45D1-A9D4-50ED4FD31754}" srcId="{4D6CC2A2-F7F8-4B73-AA44-193F9E5988F9}" destId="{B1DB190A-F8BC-4B01-B791-2AA657E29745}" srcOrd="2" destOrd="0" parTransId="{EFF527F7-A3B7-47BA-831C-C95B70CD4C6A}" sibTransId="{A31E8812-B7F1-462B-8496-326054E59EEC}"/>
    <dgm:cxn modelId="{20F1519C-79ED-4EC0-A168-A31BBD82EE26}" srcId="{4D6CC2A2-F7F8-4B73-AA44-193F9E5988F9}" destId="{B9132AF5-5A9E-41DA-B2DD-8B1C914C6A66}" srcOrd="1" destOrd="0" parTransId="{101093DA-420B-46B7-AD54-E4D94D817282}" sibTransId="{F1A49A0B-B60B-46CE-B488-D48B2558E787}"/>
    <dgm:cxn modelId="{63D0E09F-8916-469E-865F-C205E73838F5}" srcId="{4D6CC2A2-F7F8-4B73-AA44-193F9E5988F9}" destId="{0E81EFF9-FBC7-4059-829A-A42089BCB5BB}" srcOrd="0" destOrd="0" parTransId="{CC8A166C-1626-4F06-8562-AD2CCBF33E59}" sibTransId="{4EED748B-70ED-4F95-BBD0-B2F490F0D316}"/>
    <dgm:cxn modelId="{70D5F2B9-811F-4CF8-B406-0304144DC60C}" srcId="{4D6CC2A2-F7F8-4B73-AA44-193F9E5988F9}" destId="{7C606AEA-AB2B-4ADE-88E9-595ACA895D96}" srcOrd="3" destOrd="0" parTransId="{6C2ACB2E-DED6-4521-82D5-17C648576EA5}" sibTransId="{A534F54A-263A-4157-9B5B-87EC9D6ACCCD}"/>
    <dgm:cxn modelId="{B9941BC6-B1E8-412E-97E0-CAFCB5026C2D}" type="presOf" srcId="{4D6CC2A2-F7F8-4B73-AA44-193F9E5988F9}" destId="{8D801643-E491-40B2-8AAC-7B1FC4E763A7}" srcOrd="0" destOrd="0" presId="urn:microsoft.com/office/officeart/2018/2/layout/IconVerticalSolidList"/>
    <dgm:cxn modelId="{AECE73E4-5573-4296-BD9A-A18E9E705169}" type="presOf" srcId="{B9132AF5-5A9E-41DA-B2DD-8B1C914C6A66}" destId="{35BDEC07-F0A6-4141-8EAB-A322EFEBAFEB}" srcOrd="0" destOrd="0" presId="urn:microsoft.com/office/officeart/2018/2/layout/IconVerticalSolidList"/>
    <dgm:cxn modelId="{1B6C4C22-6B49-4ADD-98ED-1EAC4A76D031}" type="presParOf" srcId="{8D801643-E491-40B2-8AAC-7B1FC4E763A7}" destId="{DC0B2282-3706-40B5-ABD3-30DC931ED030}" srcOrd="0" destOrd="0" presId="urn:microsoft.com/office/officeart/2018/2/layout/IconVerticalSolidList"/>
    <dgm:cxn modelId="{1BED24BF-627E-4A4E-BD4D-F3897D8A11E6}" type="presParOf" srcId="{DC0B2282-3706-40B5-ABD3-30DC931ED030}" destId="{15A8B82A-9902-4921-87AB-D3D6510DFAE9}" srcOrd="0" destOrd="0" presId="urn:microsoft.com/office/officeart/2018/2/layout/IconVerticalSolidList"/>
    <dgm:cxn modelId="{C8B86E3F-B186-4808-81EF-F40145006745}" type="presParOf" srcId="{DC0B2282-3706-40B5-ABD3-30DC931ED030}" destId="{3D3A1EDE-EDFB-44BF-8BF8-DC12B616D2C1}" srcOrd="1" destOrd="0" presId="urn:microsoft.com/office/officeart/2018/2/layout/IconVerticalSolidList"/>
    <dgm:cxn modelId="{1686DD29-AD63-4550-A86E-A8AE99FBCDCF}" type="presParOf" srcId="{DC0B2282-3706-40B5-ABD3-30DC931ED030}" destId="{B72D1A29-7160-47BC-935C-E05BE8E90F7C}" srcOrd="2" destOrd="0" presId="urn:microsoft.com/office/officeart/2018/2/layout/IconVerticalSolidList"/>
    <dgm:cxn modelId="{F9382E18-BD28-4037-A658-3B0BC7765950}" type="presParOf" srcId="{DC0B2282-3706-40B5-ABD3-30DC931ED030}" destId="{B27E5A54-2CC3-4AE3-A942-6CF6BA84C1BE}" srcOrd="3" destOrd="0" presId="urn:microsoft.com/office/officeart/2018/2/layout/IconVerticalSolidList"/>
    <dgm:cxn modelId="{9B82B105-5E18-47A2-94A6-63BB2F55E5CB}" type="presParOf" srcId="{8D801643-E491-40B2-8AAC-7B1FC4E763A7}" destId="{2763C127-C38A-4655-B054-199EAB6417E8}" srcOrd="1" destOrd="0" presId="urn:microsoft.com/office/officeart/2018/2/layout/IconVerticalSolidList"/>
    <dgm:cxn modelId="{48BD6D4D-8BDA-4A8D-931F-117408C054F6}" type="presParOf" srcId="{8D801643-E491-40B2-8AAC-7B1FC4E763A7}" destId="{888B5E9B-B622-4B1C-A6B8-32B2E0CD70BC}" srcOrd="2" destOrd="0" presId="urn:microsoft.com/office/officeart/2018/2/layout/IconVerticalSolidList"/>
    <dgm:cxn modelId="{1EA6FCB0-2B47-4AD7-8A9F-69D25E38D47B}" type="presParOf" srcId="{888B5E9B-B622-4B1C-A6B8-32B2E0CD70BC}" destId="{5D3C6C94-183F-4AE1-8321-0F11CB548F72}" srcOrd="0" destOrd="0" presId="urn:microsoft.com/office/officeart/2018/2/layout/IconVerticalSolidList"/>
    <dgm:cxn modelId="{49C21872-8B6F-4DCC-A82D-83E9AAC15177}" type="presParOf" srcId="{888B5E9B-B622-4B1C-A6B8-32B2E0CD70BC}" destId="{0CFCF35B-2602-435D-BD8B-CCA4CBDFEB8F}" srcOrd="1" destOrd="0" presId="urn:microsoft.com/office/officeart/2018/2/layout/IconVerticalSolidList"/>
    <dgm:cxn modelId="{930FBAAC-682A-4F90-94D0-D22AC5A927F5}" type="presParOf" srcId="{888B5E9B-B622-4B1C-A6B8-32B2E0CD70BC}" destId="{DFD4D0CB-9E04-4178-89F9-7F6ABC5F3819}" srcOrd="2" destOrd="0" presId="urn:microsoft.com/office/officeart/2018/2/layout/IconVerticalSolidList"/>
    <dgm:cxn modelId="{0F9F4AA3-6B27-4191-B48A-1919E6017E67}" type="presParOf" srcId="{888B5E9B-B622-4B1C-A6B8-32B2E0CD70BC}" destId="{35BDEC07-F0A6-4141-8EAB-A322EFEBAFEB}" srcOrd="3" destOrd="0" presId="urn:microsoft.com/office/officeart/2018/2/layout/IconVerticalSolidList"/>
    <dgm:cxn modelId="{11C9EDB2-2D21-4186-BCAC-92ED995F00D0}" type="presParOf" srcId="{8D801643-E491-40B2-8AAC-7B1FC4E763A7}" destId="{37C756BF-8DCA-4988-A060-47F6CFD43903}" srcOrd="3" destOrd="0" presId="urn:microsoft.com/office/officeart/2018/2/layout/IconVerticalSolidList"/>
    <dgm:cxn modelId="{5B70DB9A-4867-4900-B900-53608E59DDD5}" type="presParOf" srcId="{8D801643-E491-40B2-8AAC-7B1FC4E763A7}" destId="{770C7C0D-0AF3-4BE1-91BE-1C8864385A64}" srcOrd="4" destOrd="0" presId="urn:microsoft.com/office/officeart/2018/2/layout/IconVerticalSolidList"/>
    <dgm:cxn modelId="{6505C924-E327-4E1A-B53C-17CE4D24E79A}" type="presParOf" srcId="{770C7C0D-0AF3-4BE1-91BE-1C8864385A64}" destId="{C8F3ABA8-21FB-416A-A93D-9C233F42D686}" srcOrd="0" destOrd="0" presId="urn:microsoft.com/office/officeart/2018/2/layout/IconVerticalSolidList"/>
    <dgm:cxn modelId="{78C17208-9D92-4F3A-AAD9-5FB9C6732724}" type="presParOf" srcId="{770C7C0D-0AF3-4BE1-91BE-1C8864385A64}" destId="{9C3B340B-5B41-41F9-8A00-A2924C5EDABC}" srcOrd="1" destOrd="0" presId="urn:microsoft.com/office/officeart/2018/2/layout/IconVerticalSolidList"/>
    <dgm:cxn modelId="{A4E81DC6-7E90-4B68-836D-D9A48267D4FF}" type="presParOf" srcId="{770C7C0D-0AF3-4BE1-91BE-1C8864385A64}" destId="{E4AE6434-B39B-4790-8C1E-0723203742E0}" srcOrd="2" destOrd="0" presId="urn:microsoft.com/office/officeart/2018/2/layout/IconVerticalSolidList"/>
    <dgm:cxn modelId="{5B981CC6-3C59-4392-8D04-7CFC2F155389}" type="presParOf" srcId="{770C7C0D-0AF3-4BE1-91BE-1C8864385A64}" destId="{19441B09-C972-4EE3-A8F7-964F1BD4970B}" srcOrd="3" destOrd="0" presId="urn:microsoft.com/office/officeart/2018/2/layout/IconVerticalSolidList"/>
    <dgm:cxn modelId="{35DFD012-F0C0-40EB-AC78-2F1F363085C3}" type="presParOf" srcId="{8D801643-E491-40B2-8AAC-7B1FC4E763A7}" destId="{26ACF56C-B57C-4D1E-B87A-65724AF409B9}" srcOrd="5" destOrd="0" presId="urn:microsoft.com/office/officeart/2018/2/layout/IconVerticalSolidList"/>
    <dgm:cxn modelId="{094A09BA-19F4-4BDB-9FC4-05B300AC4B7E}" type="presParOf" srcId="{8D801643-E491-40B2-8AAC-7B1FC4E763A7}" destId="{0DF57CD0-1F90-469C-A8A7-86128BB54481}" srcOrd="6" destOrd="0" presId="urn:microsoft.com/office/officeart/2018/2/layout/IconVerticalSolidList"/>
    <dgm:cxn modelId="{C91BEB23-6B10-40D0-9DCD-FFE646EF2682}" type="presParOf" srcId="{0DF57CD0-1F90-469C-A8A7-86128BB54481}" destId="{AAEB9AE7-632C-4306-97BD-B682B7B55675}" srcOrd="0" destOrd="0" presId="urn:microsoft.com/office/officeart/2018/2/layout/IconVerticalSolidList"/>
    <dgm:cxn modelId="{A942D0D3-71D6-44B2-BF16-C90D1BE6E0F5}" type="presParOf" srcId="{0DF57CD0-1F90-469C-A8A7-86128BB54481}" destId="{07BF43DC-AD52-4184-824F-1C8A864F29F4}" srcOrd="1" destOrd="0" presId="urn:microsoft.com/office/officeart/2018/2/layout/IconVerticalSolidList"/>
    <dgm:cxn modelId="{BF443F87-41F8-447C-9E7A-6086DED3EC07}" type="presParOf" srcId="{0DF57CD0-1F90-469C-A8A7-86128BB54481}" destId="{5CAC0F2D-2168-4528-A7F7-F63234C1454C}" srcOrd="2" destOrd="0" presId="urn:microsoft.com/office/officeart/2018/2/layout/IconVerticalSolidList"/>
    <dgm:cxn modelId="{1826F88B-5974-4562-AEC4-56E685519EEC}" type="presParOf" srcId="{0DF57CD0-1F90-469C-A8A7-86128BB54481}" destId="{E0C6D59E-E331-45AA-A6E5-BC43D69B83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6CC2A2-F7F8-4B73-AA44-193F9E5988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E81EFF9-FBC7-4059-829A-A42089BCB5BB}">
      <dgm:prSet/>
      <dgm:spPr/>
      <dgm:t>
        <a:bodyPr/>
        <a:lstStyle/>
        <a:p>
          <a:r>
            <a:rPr lang="en-US" dirty="0"/>
            <a:t>Frequent techniques include T1486 (Ransomware), T1566.002 (Phishing), and T1059.001 (PowerShell)</a:t>
          </a:r>
        </a:p>
      </dgm:t>
    </dgm:pt>
    <dgm:pt modelId="{CC8A166C-1626-4F06-8562-AD2CCBF33E59}" type="parTrans" cxnId="{63D0E09F-8916-469E-865F-C205E73838F5}">
      <dgm:prSet/>
      <dgm:spPr/>
      <dgm:t>
        <a:bodyPr/>
        <a:lstStyle/>
        <a:p>
          <a:endParaRPr lang="en-US"/>
        </a:p>
      </dgm:t>
    </dgm:pt>
    <dgm:pt modelId="{4EED748B-70ED-4F95-BBD0-B2F490F0D316}" type="sibTrans" cxnId="{63D0E09F-8916-469E-865F-C205E73838F5}">
      <dgm:prSet/>
      <dgm:spPr/>
      <dgm:t>
        <a:bodyPr/>
        <a:lstStyle/>
        <a:p>
          <a:endParaRPr lang="en-US"/>
        </a:p>
      </dgm:t>
    </dgm:pt>
    <dgm:pt modelId="{B9132AF5-5A9E-41DA-B2DD-8B1C914C6A66}">
      <dgm:prSet/>
      <dgm:spPr/>
      <dgm:t>
        <a:bodyPr/>
        <a:lstStyle/>
        <a:p>
          <a:r>
            <a:rPr lang="en-US" dirty="0"/>
            <a:t>Some organizations showed repeated occurrence of the same technique</a:t>
          </a:r>
        </a:p>
      </dgm:t>
    </dgm:pt>
    <dgm:pt modelId="{101093DA-420B-46B7-AD54-E4D94D817282}" type="parTrans" cxnId="{20F1519C-79ED-4EC0-A168-A31BBD82EE26}">
      <dgm:prSet/>
      <dgm:spPr/>
      <dgm:t>
        <a:bodyPr/>
        <a:lstStyle/>
        <a:p>
          <a:endParaRPr lang="en-US"/>
        </a:p>
      </dgm:t>
    </dgm:pt>
    <dgm:pt modelId="{F1A49A0B-B60B-46CE-B488-D48B2558E787}" type="sibTrans" cxnId="{20F1519C-79ED-4EC0-A168-A31BBD82EE26}">
      <dgm:prSet/>
      <dgm:spPr/>
      <dgm:t>
        <a:bodyPr/>
        <a:lstStyle/>
        <a:p>
          <a:endParaRPr lang="en-US"/>
        </a:p>
      </dgm:t>
    </dgm:pt>
    <dgm:pt modelId="{B1DB190A-F8BC-4B01-B791-2AA657E29745}">
      <dgm:prSet/>
      <dgm:spPr/>
      <dgm:t>
        <a:bodyPr/>
        <a:lstStyle/>
        <a:p>
          <a:r>
            <a:rPr lang="en-US" dirty="0"/>
            <a:t>Multiple high-severity alerts mapped to execution and ransomware categories</a:t>
          </a:r>
        </a:p>
      </dgm:t>
    </dgm:pt>
    <dgm:pt modelId="{EFF527F7-A3B7-47BA-831C-C95B70CD4C6A}" type="parTrans" cxnId="{644C617F-63E2-45D1-A9D4-50ED4FD31754}">
      <dgm:prSet/>
      <dgm:spPr/>
      <dgm:t>
        <a:bodyPr/>
        <a:lstStyle/>
        <a:p>
          <a:endParaRPr lang="en-US"/>
        </a:p>
      </dgm:t>
    </dgm:pt>
    <dgm:pt modelId="{A31E8812-B7F1-462B-8496-326054E59EEC}" type="sibTrans" cxnId="{644C617F-63E2-45D1-A9D4-50ED4FD31754}">
      <dgm:prSet/>
      <dgm:spPr/>
      <dgm:t>
        <a:bodyPr/>
        <a:lstStyle/>
        <a:p>
          <a:endParaRPr lang="en-US"/>
        </a:p>
      </dgm:t>
    </dgm:pt>
    <dgm:pt modelId="{7C606AEA-AB2B-4ADE-88E9-595ACA895D96}">
      <dgm:prSet/>
      <dgm:spPr/>
      <dgm:t>
        <a:bodyPr/>
        <a:lstStyle/>
        <a:p>
          <a:r>
            <a:rPr lang="en-US" dirty="0"/>
            <a:t>Patterns suggest targeted or automated attempts</a:t>
          </a:r>
        </a:p>
      </dgm:t>
    </dgm:pt>
    <dgm:pt modelId="{6C2ACB2E-DED6-4521-82D5-17C648576EA5}" type="parTrans" cxnId="{70D5F2B9-811F-4CF8-B406-0304144DC60C}">
      <dgm:prSet/>
      <dgm:spPr/>
      <dgm:t>
        <a:bodyPr/>
        <a:lstStyle/>
        <a:p>
          <a:endParaRPr lang="en-US"/>
        </a:p>
      </dgm:t>
    </dgm:pt>
    <dgm:pt modelId="{A534F54A-263A-4157-9B5B-87EC9D6ACCCD}" type="sibTrans" cxnId="{70D5F2B9-811F-4CF8-B406-0304144DC60C}">
      <dgm:prSet/>
      <dgm:spPr/>
      <dgm:t>
        <a:bodyPr/>
        <a:lstStyle/>
        <a:p>
          <a:endParaRPr lang="en-US"/>
        </a:p>
      </dgm:t>
    </dgm:pt>
    <dgm:pt modelId="{8D801643-E491-40B2-8AAC-7B1FC4E763A7}" type="pres">
      <dgm:prSet presAssocID="{4D6CC2A2-F7F8-4B73-AA44-193F9E5988F9}" presName="root" presStyleCnt="0">
        <dgm:presLayoutVars>
          <dgm:dir/>
          <dgm:resizeHandles val="exact"/>
        </dgm:presLayoutVars>
      </dgm:prSet>
      <dgm:spPr/>
    </dgm:pt>
    <dgm:pt modelId="{DC0B2282-3706-40B5-ABD3-30DC931ED030}" type="pres">
      <dgm:prSet presAssocID="{0E81EFF9-FBC7-4059-829A-A42089BCB5BB}" presName="compNode" presStyleCnt="0"/>
      <dgm:spPr/>
    </dgm:pt>
    <dgm:pt modelId="{15A8B82A-9902-4921-87AB-D3D6510DFAE9}" type="pres">
      <dgm:prSet presAssocID="{0E81EFF9-FBC7-4059-829A-A42089BCB5BB}" presName="bgRect" presStyleLbl="bgShp" presStyleIdx="0" presStyleCnt="4"/>
      <dgm:spPr>
        <a:solidFill>
          <a:schemeClr val="accent2">
            <a:lumMod val="50000"/>
          </a:schemeClr>
        </a:solidFill>
      </dgm:spPr>
    </dgm:pt>
    <dgm:pt modelId="{3D3A1EDE-EDFB-44BF-8BF8-DC12B616D2C1}" type="pres">
      <dgm:prSet presAssocID="{0E81EFF9-FBC7-4059-829A-A42089BCB5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female with solid fill"/>
        </a:ext>
      </dgm:extLst>
    </dgm:pt>
    <dgm:pt modelId="{B72D1A29-7160-47BC-935C-E05BE8E90F7C}" type="pres">
      <dgm:prSet presAssocID="{0E81EFF9-FBC7-4059-829A-A42089BCB5BB}" presName="spaceRect" presStyleCnt="0"/>
      <dgm:spPr/>
    </dgm:pt>
    <dgm:pt modelId="{B27E5A54-2CC3-4AE3-A942-6CF6BA84C1BE}" type="pres">
      <dgm:prSet presAssocID="{0E81EFF9-FBC7-4059-829A-A42089BCB5BB}" presName="parTx" presStyleLbl="revTx" presStyleIdx="0" presStyleCnt="4">
        <dgm:presLayoutVars>
          <dgm:chMax val="0"/>
          <dgm:chPref val="0"/>
        </dgm:presLayoutVars>
      </dgm:prSet>
      <dgm:spPr/>
    </dgm:pt>
    <dgm:pt modelId="{2763C127-C38A-4655-B054-199EAB6417E8}" type="pres">
      <dgm:prSet presAssocID="{4EED748B-70ED-4F95-BBD0-B2F490F0D316}" presName="sibTrans" presStyleCnt="0"/>
      <dgm:spPr/>
    </dgm:pt>
    <dgm:pt modelId="{888B5E9B-B622-4B1C-A6B8-32B2E0CD70BC}" type="pres">
      <dgm:prSet presAssocID="{B9132AF5-5A9E-41DA-B2DD-8B1C914C6A66}" presName="compNode" presStyleCnt="0"/>
      <dgm:spPr/>
    </dgm:pt>
    <dgm:pt modelId="{5D3C6C94-183F-4AE1-8321-0F11CB548F72}" type="pres">
      <dgm:prSet presAssocID="{B9132AF5-5A9E-41DA-B2DD-8B1C914C6A66}" presName="bgRect" presStyleLbl="bgShp" presStyleIdx="1" presStyleCnt="4"/>
      <dgm:spPr>
        <a:solidFill>
          <a:schemeClr val="accent2">
            <a:lumMod val="75000"/>
          </a:schemeClr>
        </a:solidFill>
      </dgm:spPr>
    </dgm:pt>
    <dgm:pt modelId="{0CFCF35B-2602-435D-BD8B-CCA4CBDFEB8F}" type="pres">
      <dgm:prSet presAssocID="{B9132AF5-5A9E-41DA-B2DD-8B1C914C6A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ckchain with solid fill"/>
        </a:ext>
      </dgm:extLst>
    </dgm:pt>
    <dgm:pt modelId="{DFD4D0CB-9E04-4178-89F9-7F6ABC5F3819}" type="pres">
      <dgm:prSet presAssocID="{B9132AF5-5A9E-41DA-B2DD-8B1C914C6A66}" presName="spaceRect" presStyleCnt="0"/>
      <dgm:spPr/>
    </dgm:pt>
    <dgm:pt modelId="{35BDEC07-F0A6-4141-8EAB-A322EFEBAFEB}" type="pres">
      <dgm:prSet presAssocID="{B9132AF5-5A9E-41DA-B2DD-8B1C914C6A66}" presName="parTx" presStyleLbl="revTx" presStyleIdx="1" presStyleCnt="4">
        <dgm:presLayoutVars>
          <dgm:chMax val="0"/>
          <dgm:chPref val="0"/>
        </dgm:presLayoutVars>
      </dgm:prSet>
      <dgm:spPr/>
    </dgm:pt>
    <dgm:pt modelId="{37C756BF-8DCA-4988-A060-47F6CFD43903}" type="pres">
      <dgm:prSet presAssocID="{F1A49A0B-B60B-46CE-B488-D48B2558E787}" presName="sibTrans" presStyleCnt="0"/>
      <dgm:spPr/>
    </dgm:pt>
    <dgm:pt modelId="{770C7C0D-0AF3-4BE1-91BE-1C8864385A64}" type="pres">
      <dgm:prSet presAssocID="{B1DB190A-F8BC-4B01-B791-2AA657E29745}" presName="compNode" presStyleCnt="0"/>
      <dgm:spPr/>
    </dgm:pt>
    <dgm:pt modelId="{C8F3ABA8-21FB-416A-A93D-9C233F42D686}" type="pres">
      <dgm:prSet presAssocID="{B1DB190A-F8BC-4B01-B791-2AA657E29745}" presName="bgRect" presStyleLbl="bgShp" presStyleIdx="2" presStyleCnt="4"/>
      <dgm:spPr>
        <a:solidFill>
          <a:schemeClr val="accent2">
            <a:lumMod val="60000"/>
            <a:lumOff val="40000"/>
          </a:schemeClr>
        </a:solidFill>
      </dgm:spPr>
    </dgm:pt>
    <dgm:pt modelId="{9C3B340B-5B41-41F9-8A00-A2924C5EDABC}" type="pres">
      <dgm:prSet presAssocID="{B1DB190A-F8BC-4B01-B791-2AA657E297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rpion with solid fill"/>
        </a:ext>
      </dgm:extLst>
    </dgm:pt>
    <dgm:pt modelId="{E4AE6434-B39B-4790-8C1E-0723203742E0}" type="pres">
      <dgm:prSet presAssocID="{B1DB190A-F8BC-4B01-B791-2AA657E29745}" presName="spaceRect" presStyleCnt="0"/>
      <dgm:spPr/>
    </dgm:pt>
    <dgm:pt modelId="{19441B09-C972-4EE3-A8F7-964F1BD4970B}" type="pres">
      <dgm:prSet presAssocID="{B1DB190A-F8BC-4B01-B791-2AA657E29745}" presName="parTx" presStyleLbl="revTx" presStyleIdx="2" presStyleCnt="4">
        <dgm:presLayoutVars>
          <dgm:chMax val="0"/>
          <dgm:chPref val="0"/>
        </dgm:presLayoutVars>
      </dgm:prSet>
      <dgm:spPr/>
    </dgm:pt>
    <dgm:pt modelId="{26ACF56C-B57C-4D1E-B87A-65724AF409B9}" type="pres">
      <dgm:prSet presAssocID="{A31E8812-B7F1-462B-8496-326054E59EEC}" presName="sibTrans" presStyleCnt="0"/>
      <dgm:spPr/>
    </dgm:pt>
    <dgm:pt modelId="{0DF57CD0-1F90-469C-A8A7-86128BB54481}" type="pres">
      <dgm:prSet presAssocID="{7C606AEA-AB2B-4ADE-88E9-595ACA895D96}" presName="compNode" presStyleCnt="0"/>
      <dgm:spPr/>
    </dgm:pt>
    <dgm:pt modelId="{AAEB9AE7-632C-4306-97BD-B682B7B55675}" type="pres">
      <dgm:prSet presAssocID="{7C606AEA-AB2B-4ADE-88E9-595ACA895D96}" presName="bgRect" presStyleLbl="bgShp" presStyleIdx="3" presStyleCnt="4"/>
      <dgm:spPr>
        <a:solidFill>
          <a:schemeClr val="accent2">
            <a:lumMod val="40000"/>
            <a:lumOff val="60000"/>
          </a:schemeClr>
        </a:solidFill>
      </dgm:spPr>
    </dgm:pt>
    <dgm:pt modelId="{07BF43DC-AD52-4184-824F-1C8A864F29F4}" type="pres">
      <dgm:prSet presAssocID="{7C606AEA-AB2B-4ADE-88E9-595ACA895D9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 with solid fill"/>
        </a:ext>
      </dgm:extLst>
    </dgm:pt>
    <dgm:pt modelId="{5CAC0F2D-2168-4528-A7F7-F63234C1454C}" type="pres">
      <dgm:prSet presAssocID="{7C606AEA-AB2B-4ADE-88E9-595ACA895D96}" presName="spaceRect" presStyleCnt="0"/>
      <dgm:spPr/>
    </dgm:pt>
    <dgm:pt modelId="{E0C6D59E-E331-45AA-A6E5-BC43D69B8321}" type="pres">
      <dgm:prSet presAssocID="{7C606AEA-AB2B-4ADE-88E9-595ACA895D9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85021C-2898-4804-BE5A-21DE07D2E405}" type="presOf" srcId="{B1DB190A-F8BC-4B01-B791-2AA657E29745}" destId="{19441B09-C972-4EE3-A8F7-964F1BD4970B}" srcOrd="0" destOrd="0" presId="urn:microsoft.com/office/officeart/2018/2/layout/IconVerticalSolidList"/>
    <dgm:cxn modelId="{B006E51D-3C82-42E5-935F-DBAB7D10924B}" type="presOf" srcId="{7C606AEA-AB2B-4ADE-88E9-595ACA895D96}" destId="{E0C6D59E-E331-45AA-A6E5-BC43D69B8321}" srcOrd="0" destOrd="0" presId="urn:microsoft.com/office/officeart/2018/2/layout/IconVerticalSolidList"/>
    <dgm:cxn modelId="{3AE28047-53E9-47E0-9802-B46676FFE5BE}" type="presOf" srcId="{0E81EFF9-FBC7-4059-829A-A42089BCB5BB}" destId="{B27E5A54-2CC3-4AE3-A942-6CF6BA84C1BE}" srcOrd="0" destOrd="0" presId="urn:microsoft.com/office/officeart/2018/2/layout/IconVerticalSolidList"/>
    <dgm:cxn modelId="{644C617F-63E2-45D1-A9D4-50ED4FD31754}" srcId="{4D6CC2A2-F7F8-4B73-AA44-193F9E5988F9}" destId="{B1DB190A-F8BC-4B01-B791-2AA657E29745}" srcOrd="2" destOrd="0" parTransId="{EFF527F7-A3B7-47BA-831C-C95B70CD4C6A}" sibTransId="{A31E8812-B7F1-462B-8496-326054E59EEC}"/>
    <dgm:cxn modelId="{20F1519C-79ED-4EC0-A168-A31BBD82EE26}" srcId="{4D6CC2A2-F7F8-4B73-AA44-193F9E5988F9}" destId="{B9132AF5-5A9E-41DA-B2DD-8B1C914C6A66}" srcOrd="1" destOrd="0" parTransId="{101093DA-420B-46B7-AD54-E4D94D817282}" sibTransId="{F1A49A0B-B60B-46CE-B488-D48B2558E787}"/>
    <dgm:cxn modelId="{63D0E09F-8916-469E-865F-C205E73838F5}" srcId="{4D6CC2A2-F7F8-4B73-AA44-193F9E5988F9}" destId="{0E81EFF9-FBC7-4059-829A-A42089BCB5BB}" srcOrd="0" destOrd="0" parTransId="{CC8A166C-1626-4F06-8562-AD2CCBF33E59}" sibTransId="{4EED748B-70ED-4F95-BBD0-B2F490F0D316}"/>
    <dgm:cxn modelId="{70D5F2B9-811F-4CF8-B406-0304144DC60C}" srcId="{4D6CC2A2-F7F8-4B73-AA44-193F9E5988F9}" destId="{7C606AEA-AB2B-4ADE-88E9-595ACA895D96}" srcOrd="3" destOrd="0" parTransId="{6C2ACB2E-DED6-4521-82D5-17C648576EA5}" sibTransId="{A534F54A-263A-4157-9B5B-87EC9D6ACCCD}"/>
    <dgm:cxn modelId="{B9941BC6-B1E8-412E-97E0-CAFCB5026C2D}" type="presOf" srcId="{4D6CC2A2-F7F8-4B73-AA44-193F9E5988F9}" destId="{8D801643-E491-40B2-8AAC-7B1FC4E763A7}" srcOrd="0" destOrd="0" presId="urn:microsoft.com/office/officeart/2018/2/layout/IconVerticalSolidList"/>
    <dgm:cxn modelId="{AECE73E4-5573-4296-BD9A-A18E9E705169}" type="presOf" srcId="{B9132AF5-5A9E-41DA-B2DD-8B1C914C6A66}" destId="{35BDEC07-F0A6-4141-8EAB-A322EFEBAFEB}" srcOrd="0" destOrd="0" presId="urn:microsoft.com/office/officeart/2018/2/layout/IconVerticalSolidList"/>
    <dgm:cxn modelId="{1B6C4C22-6B49-4ADD-98ED-1EAC4A76D031}" type="presParOf" srcId="{8D801643-E491-40B2-8AAC-7B1FC4E763A7}" destId="{DC0B2282-3706-40B5-ABD3-30DC931ED030}" srcOrd="0" destOrd="0" presId="urn:microsoft.com/office/officeart/2018/2/layout/IconVerticalSolidList"/>
    <dgm:cxn modelId="{1BED24BF-627E-4A4E-BD4D-F3897D8A11E6}" type="presParOf" srcId="{DC0B2282-3706-40B5-ABD3-30DC931ED030}" destId="{15A8B82A-9902-4921-87AB-D3D6510DFAE9}" srcOrd="0" destOrd="0" presId="urn:microsoft.com/office/officeart/2018/2/layout/IconVerticalSolidList"/>
    <dgm:cxn modelId="{C8B86E3F-B186-4808-81EF-F40145006745}" type="presParOf" srcId="{DC0B2282-3706-40B5-ABD3-30DC931ED030}" destId="{3D3A1EDE-EDFB-44BF-8BF8-DC12B616D2C1}" srcOrd="1" destOrd="0" presId="urn:microsoft.com/office/officeart/2018/2/layout/IconVerticalSolidList"/>
    <dgm:cxn modelId="{1686DD29-AD63-4550-A86E-A8AE99FBCDCF}" type="presParOf" srcId="{DC0B2282-3706-40B5-ABD3-30DC931ED030}" destId="{B72D1A29-7160-47BC-935C-E05BE8E90F7C}" srcOrd="2" destOrd="0" presId="urn:microsoft.com/office/officeart/2018/2/layout/IconVerticalSolidList"/>
    <dgm:cxn modelId="{F9382E18-BD28-4037-A658-3B0BC7765950}" type="presParOf" srcId="{DC0B2282-3706-40B5-ABD3-30DC931ED030}" destId="{B27E5A54-2CC3-4AE3-A942-6CF6BA84C1BE}" srcOrd="3" destOrd="0" presId="urn:microsoft.com/office/officeart/2018/2/layout/IconVerticalSolidList"/>
    <dgm:cxn modelId="{9B82B105-5E18-47A2-94A6-63BB2F55E5CB}" type="presParOf" srcId="{8D801643-E491-40B2-8AAC-7B1FC4E763A7}" destId="{2763C127-C38A-4655-B054-199EAB6417E8}" srcOrd="1" destOrd="0" presId="urn:microsoft.com/office/officeart/2018/2/layout/IconVerticalSolidList"/>
    <dgm:cxn modelId="{48BD6D4D-8BDA-4A8D-931F-117408C054F6}" type="presParOf" srcId="{8D801643-E491-40B2-8AAC-7B1FC4E763A7}" destId="{888B5E9B-B622-4B1C-A6B8-32B2E0CD70BC}" srcOrd="2" destOrd="0" presId="urn:microsoft.com/office/officeart/2018/2/layout/IconVerticalSolidList"/>
    <dgm:cxn modelId="{1EA6FCB0-2B47-4AD7-8A9F-69D25E38D47B}" type="presParOf" srcId="{888B5E9B-B622-4B1C-A6B8-32B2E0CD70BC}" destId="{5D3C6C94-183F-4AE1-8321-0F11CB548F72}" srcOrd="0" destOrd="0" presId="urn:microsoft.com/office/officeart/2018/2/layout/IconVerticalSolidList"/>
    <dgm:cxn modelId="{49C21872-8B6F-4DCC-A82D-83E9AAC15177}" type="presParOf" srcId="{888B5E9B-B622-4B1C-A6B8-32B2E0CD70BC}" destId="{0CFCF35B-2602-435D-BD8B-CCA4CBDFEB8F}" srcOrd="1" destOrd="0" presId="urn:microsoft.com/office/officeart/2018/2/layout/IconVerticalSolidList"/>
    <dgm:cxn modelId="{930FBAAC-682A-4F90-94D0-D22AC5A927F5}" type="presParOf" srcId="{888B5E9B-B622-4B1C-A6B8-32B2E0CD70BC}" destId="{DFD4D0CB-9E04-4178-89F9-7F6ABC5F3819}" srcOrd="2" destOrd="0" presId="urn:microsoft.com/office/officeart/2018/2/layout/IconVerticalSolidList"/>
    <dgm:cxn modelId="{0F9F4AA3-6B27-4191-B48A-1919E6017E67}" type="presParOf" srcId="{888B5E9B-B622-4B1C-A6B8-32B2E0CD70BC}" destId="{35BDEC07-F0A6-4141-8EAB-A322EFEBAFEB}" srcOrd="3" destOrd="0" presId="urn:microsoft.com/office/officeart/2018/2/layout/IconVerticalSolidList"/>
    <dgm:cxn modelId="{11C9EDB2-2D21-4186-BCAC-92ED995F00D0}" type="presParOf" srcId="{8D801643-E491-40B2-8AAC-7B1FC4E763A7}" destId="{37C756BF-8DCA-4988-A060-47F6CFD43903}" srcOrd="3" destOrd="0" presId="urn:microsoft.com/office/officeart/2018/2/layout/IconVerticalSolidList"/>
    <dgm:cxn modelId="{5B70DB9A-4867-4900-B900-53608E59DDD5}" type="presParOf" srcId="{8D801643-E491-40B2-8AAC-7B1FC4E763A7}" destId="{770C7C0D-0AF3-4BE1-91BE-1C8864385A64}" srcOrd="4" destOrd="0" presId="urn:microsoft.com/office/officeart/2018/2/layout/IconVerticalSolidList"/>
    <dgm:cxn modelId="{6505C924-E327-4E1A-B53C-17CE4D24E79A}" type="presParOf" srcId="{770C7C0D-0AF3-4BE1-91BE-1C8864385A64}" destId="{C8F3ABA8-21FB-416A-A93D-9C233F42D686}" srcOrd="0" destOrd="0" presId="urn:microsoft.com/office/officeart/2018/2/layout/IconVerticalSolidList"/>
    <dgm:cxn modelId="{78C17208-9D92-4F3A-AAD9-5FB9C6732724}" type="presParOf" srcId="{770C7C0D-0AF3-4BE1-91BE-1C8864385A64}" destId="{9C3B340B-5B41-41F9-8A00-A2924C5EDABC}" srcOrd="1" destOrd="0" presId="urn:microsoft.com/office/officeart/2018/2/layout/IconVerticalSolidList"/>
    <dgm:cxn modelId="{A4E81DC6-7E90-4B68-836D-D9A48267D4FF}" type="presParOf" srcId="{770C7C0D-0AF3-4BE1-91BE-1C8864385A64}" destId="{E4AE6434-B39B-4790-8C1E-0723203742E0}" srcOrd="2" destOrd="0" presId="urn:microsoft.com/office/officeart/2018/2/layout/IconVerticalSolidList"/>
    <dgm:cxn modelId="{5B981CC6-3C59-4392-8D04-7CFC2F155389}" type="presParOf" srcId="{770C7C0D-0AF3-4BE1-91BE-1C8864385A64}" destId="{19441B09-C972-4EE3-A8F7-964F1BD4970B}" srcOrd="3" destOrd="0" presId="urn:microsoft.com/office/officeart/2018/2/layout/IconVerticalSolidList"/>
    <dgm:cxn modelId="{35DFD012-F0C0-40EB-AC78-2F1F363085C3}" type="presParOf" srcId="{8D801643-E491-40B2-8AAC-7B1FC4E763A7}" destId="{26ACF56C-B57C-4D1E-B87A-65724AF409B9}" srcOrd="5" destOrd="0" presId="urn:microsoft.com/office/officeart/2018/2/layout/IconVerticalSolidList"/>
    <dgm:cxn modelId="{094A09BA-19F4-4BDB-9FC4-05B300AC4B7E}" type="presParOf" srcId="{8D801643-E491-40B2-8AAC-7B1FC4E763A7}" destId="{0DF57CD0-1F90-469C-A8A7-86128BB54481}" srcOrd="6" destOrd="0" presId="urn:microsoft.com/office/officeart/2018/2/layout/IconVerticalSolidList"/>
    <dgm:cxn modelId="{C91BEB23-6B10-40D0-9DCD-FFE646EF2682}" type="presParOf" srcId="{0DF57CD0-1F90-469C-A8A7-86128BB54481}" destId="{AAEB9AE7-632C-4306-97BD-B682B7B55675}" srcOrd="0" destOrd="0" presId="urn:microsoft.com/office/officeart/2018/2/layout/IconVerticalSolidList"/>
    <dgm:cxn modelId="{A942D0D3-71D6-44B2-BF16-C90D1BE6E0F5}" type="presParOf" srcId="{0DF57CD0-1F90-469C-A8A7-86128BB54481}" destId="{07BF43DC-AD52-4184-824F-1C8A864F29F4}" srcOrd="1" destOrd="0" presId="urn:microsoft.com/office/officeart/2018/2/layout/IconVerticalSolidList"/>
    <dgm:cxn modelId="{BF443F87-41F8-447C-9E7A-6086DED3EC07}" type="presParOf" srcId="{0DF57CD0-1F90-469C-A8A7-86128BB54481}" destId="{5CAC0F2D-2168-4528-A7F7-F63234C1454C}" srcOrd="2" destOrd="0" presId="urn:microsoft.com/office/officeart/2018/2/layout/IconVerticalSolidList"/>
    <dgm:cxn modelId="{1826F88B-5974-4562-AEC4-56E685519EEC}" type="presParOf" srcId="{0DF57CD0-1F90-469C-A8A7-86128BB54481}" destId="{E0C6D59E-E331-45AA-A6E5-BC43D69B83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32DA9D-1AF1-454A-89E4-C4EEE3D9AD2D}">
      <dsp:nvSpPr>
        <dsp:cNvPr id="0" name=""/>
        <dsp:cNvSpPr/>
      </dsp:nvSpPr>
      <dsp:spPr>
        <a:xfrm>
          <a:off x="545672" y="1800"/>
          <a:ext cx="2766269" cy="1659761"/>
        </a:xfrm>
        <a:prstGeom prst="rect">
          <a:avLst/>
        </a:prstGeom>
        <a:solidFill>
          <a:schemeClr val="accent2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Imported raw logs</a:t>
          </a:r>
        </a:p>
      </dsp:txBody>
      <dsp:txXfrm>
        <a:off x="545672" y="1800"/>
        <a:ext cx="2766269" cy="1659761"/>
      </dsp:txXfrm>
    </dsp:sp>
    <dsp:sp modelId="{9B8566F6-C0A9-4143-9872-0549F74F71F8}">
      <dsp:nvSpPr>
        <dsp:cNvPr id="0" name=""/>
        <dsp:cNvSpPr/>
      </dsp:nvSpPr>
      <dsp:spPr>
        <a:xfrm>
          <a:off x="3588569" y="1800"/>
          <a:ext cx="2766269" cy="1659761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Cleaned data</a:t>
          </a:r>
        </a:p>
      </dsp:txBody>
      <dsp:txXfrm>
        <a:off x="3588569" y="1800"/>
        <a:ext cx="2766269" cy="1659761"/>
      </dsp:txXfrm>
    </dsp:sp>
    <dsp:sp modelId="{24CD60A7-B465-2F4B-AB0B-E86D538471B0}">
      <dsp:nvSpPr>
        <dsp:cNvPr id="0" name=""/>
        <dsp:cNvSpPr/>
      </dsp:nvSpPr>
      <dsp:spPr>
        <a:xfrm>
          <a:off x="545672" y="1938189"/>
          <a:ext cx="2766269" cy="1659761"/>
        </a:xfrm>
        <a:prstGeom prst="rect">
          <a:avLst/>
        </a:prstGeom>
        <a:solidFill>
          <a:schemeClr val="accent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Analyzed patterns</a:t>
          </a:r>
        </a:p>
      </dsp:txBody>
      <dsp:txXfrm>
        <a:off x="545672" y="1938189"/>
        <a:ext cx="2766269" cy="1659761"/>
      </dsp:txXfrm>
    </dsp:sp>
    <dsp:sp modelId="{EF115672-54C4-D346-986C-405313FE150A}">
      <dsp:nvSpPr>
        <dsp:cNvPr id="0" name=""/>
        <dsp:cNvSpPr/>
      </dsp:nvSpPr>
      <dsp:spPr>
        <a:xfrm>
          <a:off x="3588569" y="1938189"/>
          <a:ext cx="2766269" cy="1659761"/>
        </a:xfrm>
        <a:prstGeom prst="rect">
          <a:avLst/>
        </a:prstGeom>
        <a:solidFill>
          <a:srgbClr val="E1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Mapped incidents to MITRE ATT&amp;CK techniques</a:t>
          </a:r>
        </a:p>
      </dsp:txBody>
      <dsp:txXfrm>
        <a:off x="3588569" y="1938189"/>
        <a:ext cx="2766269" cy="1659761"/>
      </dsp:txXfrm>
    </dsp:sp>
    <dsp:sp modelId="{DE6A6388-D31C-C544-8596-6EFDE89EC909}">
      <dsp:nvSpPr>
        <dsp:cNvPr id="0" name=""/>
        <dsp:cNvSpPr/>
      </dsp:nvSpPr>
      <dsp:spPr>
        <a:xfrm>
          <a:off x="545672" y="3874578"/>
          <a:ext cx="2766269" cy="1659761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Visualized findings in Tableau</a:t>
          </a:r>
        </a:p>
      </dsp:txBody>
      <dsp:txXfrm>
        <a:off x="545672" y="3874578"/>
        <a:ext cx="2766269" cy="1659761"/>
      </dsp:txXfrm>
    </dsp:sp>
    <dsp:sp modelId="{D453FB12-3388-1E4F-9C71-FB8517EA12EB}">
      <dsp:nvSpPr>
        <dsp:cNvPr id="0" name=""/>
        <dsp:cNvSpPr/>
      </dsp:nvSpPr>
      <dsp:spPr>
        <a:xfrm>
          <a:off x="3588569" y="3874578"/>
          <a:ext cx="2766269" cy="1659761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Documented recommendations for IT audit teams</a:t>
          </a:r>
        </a:p>
      </dsp:txBody>
      <dsp:txXfrm>
        <a:off x="3588569" y="3874578"/>
        <a:ext cx="2766269" cy="16597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3AC12-9337-D844-A8BB-E1BACE5CCAC9}">
      <dsp:nvSpPr>
        <dsp:cNvPr id="0" name=""/>
        <dsp:cNvSpPr/>
      </dsp:nvSpPr>
      <dsp:spPr>
        <a:xfrm>
          <a:off x="0" y="679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0D5B6-6210-0243-982C-FC5E62AD7FAA}">
      <dsp:nvSpPr>
        <dsp:cNvPr id="0" name=""/>
        <dsp:cNvSpPr/>
      </dsp:nvSpPr>
      <dsp:spPr>
        <a:xfrm>
          <a:off x="0" y="679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Which user accounts have </a:t>
          </a:r>
          <a:r>
            <a:rPr lang="en-US" sz="2000" b="1" kern="1200"/>
            <a:t>triggered more than 3 high-severity incidents</a:t>
          </a:r>
          <a:r>
            <a:rPr lang="en-US" sz="2000" kern="1200"/>
            <a:t> in a single week?</a:t>
          </a:r>
        </a:p>
      </dsp:txBody>
      <dsp:txXfrm>
        <a:off x="0" y="679"/>
        <a:ext cx="6735443" cy="1112648"/>
      </dsp:txXfrm>
    </dsp:sp>
    <dsp:sp modelId="{B5ABCB78-18D8-AF4F-B970-8444B21DF509}">
      <dsp:nvSpPr>
        <dsp:cNvPr id="0" name=""/>
        <dsp:cNvSpPr/>
      </dsp:nvSpPr>
      <dsp:spPr>
        <a:xfrm>
          <a:off x="0" y="1113327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9006D-7123-5641-98D2-60C4A2A642C8}">
      <dsp:nvSpPr>
        <dsp:cNvPr id="0" name=""/>
        <dsp:cNvSpPr/>
      </dsp:nvSpPr>
      <dsp:spPr>
        <a:xfrm>
          <a:off x="0" y="1113327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is the </a:t>
          </a:r>
          <a:r>
            <a:rPr lang="en-US" sz="2000" b="1" kern="1200"/>
            <a:t>average time between an alert </a:t>
          </a:r>
          <a:r>
            <a:rPr lang="en-US" sz="2000" kern="1200"/>
            <a:t>being generated and the next alert for the same user account, and does that interval decrease during known attack periods?</a:t>
          </a:r>
        </a:p>
      </dsp:txBody>
      <dsp:txXfrm>
        <a:off x="0" y="1113327"/>
        <a:ext cx="6735443" cy="1112648"/>
      </dsp:txXfrm>
    </dsp:sp>
    <dsp:sp modelId="{961679F6-0B4A-2949-A620-4A3800BDB412}">
      <dsp:nvSpPr>
        <dsp:cNvPr id="0" name=""/>
        <dsp:cNvSpPr/>
      </dsp:nvSpPr>
      <dsp:spPr>
        <a:xfrm>
          <a:off x="0" y="2225976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32DAB-564D-0345-876E-8F8B7D7704D8}">
      <dsp:nvSpPr>
        <dsp:cNvPr id="0" name=""/>
        <dsp:cNvSpPr/>
      </dsp:nvSpPr>
      <dsp:spPr>
        <a:xfrm>
          <a:off x="0" y="2225976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Which departments or business units generate the </a:t>
          </a:r>
          <a:r>
            <a:rPr lang="en-US" sz="2000" b="1" kern="1200"/>
            <a:t>highest volume of unresolved medium-to-high alerts</a:t>
          </a:r>
          <a:r>
            <a:rPr lang="en-US" sz="2000" kern="1200"/>
            <a:t>, and what controls can be strengthened there?</a:t>
          </a:r>
        </a:p>
      </dsp:txBody>
      <dsp:txXfrm>
        <a:off x="0" y="2225976"/>
        <a:ext cx="6735443" cy="1112648"/>
      </dsp:txXfrm>
    </dsp:sp>
    <dsp:sp modelId="{E2FA983C-9F72-8244-B3A8-274247953F17}">
      <dsp:nvSpPr>
        <dsp:cNvPr id="0" name=""/>
        <dsp:cNvSpPr/>
      </dsp:nvSpPr>
      <dsp:spPr>
        <a:xfrm>
          <a:off x="0" y="3338625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0CBF8-D7DF-744C-9FC6-FA83E4C0D117}">
      <dsp:nvSpPr>
        <dsp:cNvPr id="0" name=""/>
        <dsp:cNvSpPr/>
      </dsp:nvSpPr>
      <dsp:spPr>
        <a:xfrm>
          <a:off x="0" y="3338625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How many incidents involve </a:t>
          </a:r>
          <a:r>
            <a:rPr lang="en-US" sz="2000" b="1" kern="1200"/>
            <a:t>access attempts outside normal working hours</a:t>
          </a:r>
          <a:r>
            <a:rPr lang="en-US" sz="2000" kern="1200"/>
            <a:t> (6PM-6AM), and how often do those lead to escalation? </a:t>
          </a:r>
        </a:p>
      </dsp:txBody>
      <dsp:txXfrm>
        <a:off x="0" y="3338625"/>
        <a:ext cx="6735443" cy="1112648"/>
      </dsp:txXfrm>
    </dsp:sp>
    <dsp:sp modelId="{756FEEDC-4A80-FC48-8D23-65D104AA1ECC}">
      <dsp:nvSpPr>
        <dsp:cNvPr id="0" name=""/>
        <dsp:cNvSpPr/>
      </dsp:nvSpPr>
      <dsp:spPr>
        <a:xfrm>
          <a:off x="0" y="4451274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B30A1-5785-E548-B77D-E503CFCD1572}">
      <dsp:nvSpPr>
        <dsp:cNvPr id="0" name=""/>
        <dsp:cNvSpPr/>
      </dsp:nvSpPr>
      <dsp:spPr>
        <a:xfrm>
          <a:off x="0" y="4451274"/>
          <a:ext cx="6735443" cy="1112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was the </a:t>
          </a:r>
          <a:r>
            <a:rPr lang="en-US" sz="2000" b="1" kern="1200"/>
            <a:t>trend in failed login attempts</a:t>
          </a:r>
          <a:r>
            <a:rPr lang="en-US" sz="2000" kern="1200"/>
            <a:t> over the last 30 days, and were there any spikes on specific dates?</a:t>
          </a:r>
        </a:p>
      </dsp:txBody>
      <dsp:txXfrm>
        <a:off x="0" y="4451274"/>
        <a:ext cx="6735443" cy="1112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8B82A-9902-4921-87AB-D3D6510DFAE9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A1EDE-EDFB-44BF-8BF8-DC12B616D2C1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E5A54-2CC3-4AE3-A942-6CF6BA84C1BE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Account 673934 triggered unusually high volumes of high-severity alerts</a:t>
          </a:r>
        </a:p>
      </dsp:txBody>
      <dsp:txXfrm>
        <a:off x="1058686" y="1808"/>
        <a:ext cx="9456913" cy="916611"/>
      </dsp:txXfrm>
    </dsp:sp>
    <dsp:sp modelId="{5D3C6C94-183F-4AE1-8321-0F11CB548F72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FCF35B-2602-435D-BD8B-CCA4CBDFEB8F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DEC07-F0A6-4141-8EAB-A322EFEBAFEB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Organizations 738, 73, and 116 showed the largest clusters of unresolved incidents</a:t>
          </a:r>
        </a:p>
      </dsp:txBody>
      <dsp:txXfrm>
        <a:off x="1058686" y="1147573"/>
        <a:ext cx="9456913" cy="916611"/>
      </dsp:txXfrm>
    </dsp:sp>
    <dsp:sp modelId="{C8F3ABA8-21FB-416A-A93D-9C233F42D686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B340B-5B41-41F9-8A00-A2924C5EDABC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41B09-C972-4EE3-A8F7-964F1BD4970B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Off-hours access patterns indicate potential automation or malware beaconing</a:t>
          </a:r>
        </a:p>
      </dsp:txBody>
      <dsp:txXfrm>
        <a:off x="1058686" y="2293338"/>
        <a:ext cx="9456913" cy="916611"/>
      </dsp:txXfrm>
    </dsp:sp>
    <dsp:sp modelId="{AAEB9AE7-632C-4306-97BD-B682B7B55675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F43DC-AD52-4184-824F-1C8A864F29F4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6D59E-E331-45AA-A6E5-BC43D69B8321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 account generated alerts seconds apart, suggesting scripted behavior</a:t>
          </a:r>
        </a:p>
      </dsp:txBody>
      <dsp:txXfrm>
        <a:off x="1058686" y="3439103"/>
        <a:ext cx="9456913" cy="916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A8B82A-9902-4921-87AB-D3D6510DFAE9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A1EDE-EDFB-44BF-8BF8-DC12B616D2C1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E5A54-2CC3-4AE3-A942-6CF6BA84C1BE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Frequent techniques include T1486 (Ransomware), T1566.002 (Phishing), and T1059.001 (PowerShell)</a:t>
          </a:r>
        </a:p>
      </dsp:txBody>
      <dsp:txXfrm>
        <a:off x="1058686" y="1808"/>
        <a:ext cx="9456913" cy="916611"/>
      </dsp:txXfrm>
    </dsp:sp>
    <dsp:sp modelId="{5D3C6C94-183F-4AE1-8321-0F11CB548F72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FCF35B-2602-435D-BD8B-CCA4CBDFEB8F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DEC07-F0A6-4141-8EAB-A322EFEBAFEB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Some organizations showed repeated occurrence of the same technique</a:t>
          </a:r>
        </a:p>
      </dsp:txBody>
      <dsp:txXfrm>
        <a:off x="1058686" y="1147573"/>
        <a:ext cx="9456913" cy="916611"/>
      </dsp:txXfrm>
    </dsp:sp>
    <dsp:sp modelId="{C8F3ABA8-21FB-416A-A93D-9C233F42D686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B340B-5B41-41F9-8A00-A2924C5EDABC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41B09-C972-4EE3-A8F7-964F1BD4970B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Multiple high-severity alerts mapped to execution and ransomware categories</a:t>
          </a:r>
        </a:p>
      </dsp:txBody>
      <dsp:txXfrm>
        <a:off x="1058686" y="2293338"/>
        <a:ext cx="9456913" cy="916611"/>
      </dsp:txXfrm>
    </dsp:sp>
    <dsp:sp modelId="{AAEB9AE7-632C-4306-97BD-B682B7B55675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F43DC-AD52-4184-824F-1C8A864F29F4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6D59E-E331-45AA-A6E5-BC43D69B8321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Patterns suggest targeted or automated attempts</a:t>
          </a:r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C0DF4-5CC9-7647-9883-7AB2B4C6723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0F356-3813-EB4A-9023-473321DF9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8EF3-2357-EF0F-8D15-F86F9FC42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DE7DD-7F21-D783-9B34-66F0EFC74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BCBBB-E806-72F6-92C8-52AF5F1BB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D886C-F170-C825-9AEC-56876D43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5D3B9-692B-37AA-2A47-E4FBED98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6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FCFF-4AE6-6A9D-5541-CB3B56D4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83AD1-BF20-B5E5-6261-5E14D732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B0011-5D94-79B5-5E5B-59FD940D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1A68-36E1-AB75-CD07-F597D354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CC39C-BC94-FA0F-352A-6F585E05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9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5788-38B5-476A-5A36-55DE46CF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4B26B-0626-FF28-90B6-863320D5F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3DA06-0F0D-5DC2-479A-DD4C0203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5A638-2C5E-4EBA-383D-C7B62CFF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ED02B-A5FC-AF3B-729B-414DEBC6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59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23E7-20B6-3924-1DE6-A150464C6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FFA6-E0F0-B936-F91D-345DAFF346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B4B7-4CED-F53E-6B0B-F6E87C34A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30BD4-45F0-89A5-94A4-A1E6E576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A8E37-79C9-73C7-83FE-125CEDA2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B40B5-1F8A-C515-BC4F-7A9B995E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2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4540-7DEF-5F0F-7A67-1BB8BA6C7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EF266-AF23-0A52-8D29-3DD742D44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7E572-DC42-1A28-7AFF-3A09F7F45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63971-B260-F16D-A83A-3EE663352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434CB-7709-765C-59AD-919D71476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E88531-E849-A4ED-EAED-3F25CBF3B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EDB71-A3C6-D27B-72B7-A684BD96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18EB7-EBD1-4984-4365-5E454BD4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8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1258-F550-44FC-5D1D-11B5AB04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AF6D8-A5D4-A4E1-3E5F-05C08F89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09A8F-A479-F645-923E-CC8A4613A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A82B4-014F-11F4-D4B5-AFEC1A6B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05626-1989-FC56-27EF-9027E794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C0246-CFB0-A85B-B2E8-67D9CE0A1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99B74-D1F2-A2D5-0CB9-C3BC3BAB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8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C1CC-3B0B-1DE4-F118-B624669E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9AD0-20EE-F121-FCE0-212F334E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BA729-EB67-B2F0-94C4-A4B8B099F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CB24E-9C5E-4238-378E-FD1790DC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2A7C0-ECB2-415C-9D93-1FEFDF14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39A58-AB46-9AA7-6D8C-C008B77C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1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C00A-51E9-6001-B4CE-E7C350FB2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B8B42-F222-408C-A179-069F533F8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268BE-BE2B-0CE1-8EE0-A2B30E6B3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25241-1106-D5B5-1584-CD9394FB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2155C-9B5D-670F-0973-4A653765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D0A8E-BFA5-2734-D140-5EF8A5C5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8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0E22-ED89-1FC9-9D79-4777F4E7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0CF2C-952E-23A1-B145-AE27A2E50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1A51-0A31-4FA0-42AA-10B1C19C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407C-6ADC-BAC6-1BE7-8975854B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3E820-358B-94F5-2DC4-7D1FCCA1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5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85D7A-BF0D-0475-28DF-0A88FEE64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2AE42-E7E2-B292-BD4F-5F99E7487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A9F9-B0F5-C701-4103-916F0119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FAAC-43AB-7B69-BAA1-0E8C5443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4B280-6910-4A45-6A1F-4BEFB7F2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8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CF3F0-28EB-053E-79C1-C78A646F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4E5F7-C10E-83B9-49A0-360686E90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9CC8A-F7F7-AA58-C12B-9361B52AB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5774C-B118-7644-BA98-05EDC39B436F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228C-91F2-136F-599E-82CD39845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6FF10-7F0D-9B91-32BB-A8DEEB07C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81F73-CADD-B543-B91F-09FC7DE0D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iNguyen1/cybersecurity-incident-analysis" TargetMode="External"/><Relationship Id="rId2" Type="http://schemas.openxmlformats.org/officeDocument/2006/relationships/hyperlink" Target="https://www.kaggle.com/datasets/Microsoft/microsoft-security-incident-predic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lic.tableau.com/app/profile/lani.nguyen7732/viz/AnalyzingSecurityIncidentLogstoDetectPotentialCyberThreats/Dashboard4#1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FA537-8643-CCD6-D3E8-21E5CF967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/>
              <a:t>Cyber Security Incident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B4C7D-046D-4D6E-B088-79A0FBA2E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sz="2000" dirty="0"/>
              <a:t>Identifying High-Risk Accounts, Anomaly Patterns &amp; MITRE ATT&amp;CK Behaviors</a:t>
            </a:r>
          </a:p>
          <a:p>
            <a:endParaRPr lang="en-US" sz="2000" dirty="0"/>
          </a:p>
          <a:p>
            <a:r>
              <a:rPr lang="en-US" sz="1600" dirty="0"/>
              <a:t>By: Lani Nguyen</a:t>
            </a: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3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56361-58C1-2552-7564-9F2140EC5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5C4E6-0FEE-5628-C6A3-B963F0C7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This project analyzes 3 months of Microsoft security logs to identify: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High-risk user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Off-hours 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Repeated high-severity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MITRE ATT&amp;CK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/>
              <a:t>Organizational exposure and control gaps</a:t>
            </a:r>
          </a:p>
          <a:p>
            <a:pPr marL="0" indent="0">
              <a:buNone/>
            </a:pPr>
            <a:endParaRPr lang="en-US" sz="1800" b="1"/>
          </a:p>
          <a:p>
            <a:pPr marL="0" indent="0">
              <a:buNone/>
            </a:pPr>
            <a:r>
              <a:rPr lang="en-US" sz="1800" b="1"/>
              <a:t>Goal: </a:t>
            </a:r>
            <a:r>
              <a:rPr lang="en-US" sz="1800"/>
              <a:t>Detect potential threats and provide audit-focused recommendations.</a:t>
            </a: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98423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FBB61-76E4-12C3-8058-5C5FC4EC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Dataset &amp; Tools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93DDC-9ADC-7E5A-5918-FB7A6B3A4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Dataset:</a:t>
            </a:r>
            <a:r>
              <a:rPr lang="en-US" sz="2400"/>
              <a:t> Microsoft Security Incident Prediction (Kaggle)</a:t>
            </a:r>
          </a:p>
          <a:p>
            <a:pPr marL="0" indent="0">
              <a:buNone/>
            </a:pPr>
            <a:br>
              <a:rPr lang="en-US" sz="2400"/>
            </a:br>
            <a:r>
              <a:rPr lang="en-US" sz="2400" b="1"/>
              <a:t>Tools Used:</a:t>
            </a:r>
            <a:endParaRPr 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SQL (</a:t>
            </a:r>
            <a:r>
              <a:rPr lang="en-US" sz="2400" err="1"/>
              <a:t>BigQuery</a:t>
            </a:r>
            <a:r>
              <a:rPr lang="en-US" sz="2400"/>
              <a:t> syntax): Data cleaning, filtering, incident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Excel: Initial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Tableau: Dashboard design &amp;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PowerPoint: Reporting insights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012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C6DC1-B617-CEAC-9179-CB8C6103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 dirty="0"/>
              <a:t>Methodology</a:t>
            </a: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E5775FE-B1AF-07DA-9647-F76A25D35C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972080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400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5F9AA-CC00-AAAD-AB2F-6AB965AA6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Questions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5F9905-30BE-1FE8-AAA3-DB45A8F855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949456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264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70C2C-1894-64BD-6929-7FB296C7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FA98-D62A-1B2C-B6E0-029582CB9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r"/>
            <a:r>
              <a:rPr lang="en-US" sz="7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Highlights: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high-risk accounts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Unresolved alerts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Off-hours spikes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seconds between alerts</a:t>
            </a:r>
          </a:p>
          <a:p>
            <a:pPr algn="r"/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50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6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data report&#10;&#10;Description automatically generated">
            <a:extLst>
              <a:ext uri="{FF2B5EF4-FFF2-40B4-BE49-F238E27FC236}">
                <a16:creationId xmlns:a16="http://schemas.microsoft.com/office/drawing/2014/main" id="{14505C7F-DD0C-73D9-AE56-8F21AB9BB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480060"/>
            <a:ext cx="737235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4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751F3-A522-5861-21A8-EB8A0DD8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Dashboard 1 Findings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DDAF48-9AC1-3580-AB13-ED7215BBA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31335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62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3F42C-C474-505A-3FF3-FAF4DE6C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85ADE-6AC5-A791-EC52-F172A6BE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91E01-9E2A-813C-A35D-6E9FD5B42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r"/>
            <a:r>
              <a:rPr lang="en-US" sz="7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Highlights: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MITRE technique frequency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Categories by severity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Technique-to-account mapping</a:t>
            </a:r>
          </a:p>
          <a:p>
            <a:pPr algn="r"/>
            <a:r>
              <a:rPr lang="en-US" sz="5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 exposure</a:t>
            </a:r>
          </a:p>
          <a:p>
            <a:pPr algn="r"/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87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FA754-EBE3-0FA6-B5AD-9EE7BA0B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6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graph&#10;&#10;Description automatically generated">
            <a:extLst>
              <a:ext uri="{FF2B5EF4-FFF2-40B4-BE49-F238E27FC236}">
                <a16:creationId xmlns:a16="http://schemas.microsoft.com/office/drawing/2014/main" id="{ED118FDC-9D0C-8CCA-378A-F068A81E1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38" y="480060"/>
            <a:ext cx="7442123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142F-A92E-98E6-8476-00CCFCAB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59DB-22A6-74CB-374F-ED499860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Dashboard 2 Findings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97BF31-8FC3-0FE4-9BAE-6B6E4BB657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75925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835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3112A-330E-3629-C8C5-304B4A89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Risk &amp; Audit Observations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8CFA-CBB2-3373-29FE-5D928560A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1800"/>
              <a:t>High-risk accounts triggered 3+ high-severity alerts per week, indicating potential security threats</a:t>
            </a:r>
          </a:p>
          <a:p>
            <a:r>
              <a:rPr lang="en-US" sz="1800"/>
              <a:t>Clusters of unresolved alerts in organizations 738, 73, and 116 reveal gaps in incident response controls</a:t>
            </a:r>
          </a:p>
          <a:p>
            <a:r>
              <a:rPr lang="en-US" sz="1800"/>
              <a:t>Off-hours access spikes suggest possible automated attacks or unusual insider activity</a:t>
            </a:r>
          </a:p>
          <a:p>
            <a:r>
              <a:rPr lang="en-US" sz="1800"/>
              <a:t>Frequent MITRE ATT&amp;CK techniques (T1486, T1566.002, T1059.001) highlight repeated attack patterns</a:t>
            </a:r>
          </a:p>
          <a:p>
            <a:r>
              <a:rPr lang="en-US" sz="1800"/>
              <a:t>Near-instant alert occurrences indicate scripted or automated attack behavior</a:t>
            </a:r>
          </a:p>
        </p:txBody>
      </p:sp>
    </p:spTree>
    <p:extLst>
      <p:ext uri="{BB962C8B-B14F-4D97-AF65-F5344CB8AC3E}">
        <p14:creationId xmlns:p14="http://schemas.microsoft.com/office/powerpoint/2010/main" val="395490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2A2E8-E1A5-D42D-B2BF-F6431471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120BA-3AC3-9C8D-1D4F-EEE759044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16924-9297-15FA-5A50-11526564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1800"/>
              <a:t>Implement </a:t>
            </a:r>
            <a:r>
              <a:rPr lang="en-US" sz="1800" b="1"/>
              <a:t>stricter controls</a:t>
            </a:r>
            <a:r>
              <a:rPr lang="en-US" sz="1800"/>
              <a:t> and </a:t>
            </a:r>
            <a:r>
              <a:rPr lang="en-US" sz="1800" b="1"/>
              <a:t>continuous monitoring</a:t>
            </a:r>
            <a:r>
              <a:rPr lang="en-US" sz="1800"/>
              <a:t> for accounts generating repeated high-severity alerts</a:t>
            </a:r>
          </a:p>
          <a:p>
            <a:r>
              <a:rPr lang="en-US" sz="1800"/>
              <a:t>Enhance </a:t>
            </a:r>
            <a:r>
              <a:rPr lang="en-US" sz="1800" b="1"/>
              <a:t>incident triage</a:t>
            </a:r>
            <a:r>
              <a:rPr lang="en-US" sz="1800"/>
              <a:t> to reduce unresolved alerts and strengthen response processes</a:t>
            </a:r>
          </a:p>
          <a:p>
            <a:r>
              <a:rPr lang="en-US" sz="1800"/>
              <a:t>Increase </a:t>
            </a:r>
            <a:r>
              <a:rPr lang="en-US" sz="1800" b="1"/>
              <a:t>off-hours monitoring</a:t>
            </a:r>
            <a:r>
              <a:rPr lang="en-US" sz="1800"/>
              <a:t> to detect automated attacks or suspicious insider behavior</a:t>
            </a:r>
          </a:p>
          <a:p>
            <a:r>
              <a:rPr lang="en-US" sz="1800" b="1"/>
              <a:t>Map alerts </a:t>
            </a:r>
            <a:r>
              <a:rPr lang="en-US" sz="1800"/>
              <a:t>to </a:t>
            </a:r>
            <a:r>
              <a:rPr lang="en-US" sz="1800" b="1"/>
              <a:t>MITRE ATT&amp;CK techniques</a:t>
            </a:r>
            <a:r>
              <a:rPr lang="en-US" sz="1800"/>
              <a:t> for proactive threat detection and compliance alignment</a:t>
            </a:r>
          </a:p>
          <a:p>
            <a:r>
              <a:rPr lang="en-US" sz="1800"/>
              <a:t>Conduct </a:t>
            </a:r>
            <a:r>
              <a:rPr lang="en-US" sz="1800" b="1"/>
              <a:t>follow-up investigations</a:t>
            </a:r>
            <a:r>
              <a:rPr lang="en-US" sz="1800"/>
              <a:t> on flagged accounts to remediate potential security risks</a:t>
            </a:r>
          </a:p>
          <a:p>
            <a:r>
              <a:rPr lang="en-US" sz="1800"/>
              <a:t>Strengthen </a:t>
            </a:r>
            <a:r>
              <a:rPr lang="en-US" sz="1800" b="1"/>
              <a:t>internal logging, alert correlation, </a:t>
            </a:r>
            <a:r>
              <a:rPr lang="en-US" sz="1800"/>
              <a:t>and </a:t>
            </a:r>
            <a:r>
              <a:rPr lang="en-US" sz="1800" b="1"/>
              <a:t>reporting</a:t>
            </a:r>
            <a:r>
              <a:rPr lang="en-US" sz="1800"/>
              <a:t> to improve auditability and risk mitigation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574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35174-105F-9C26-262E-2B9DAAD2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922F3-2689-F3ED-26FF-A810FB63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This project demonstrates: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Threat behavior analysis</a:t>
            </a:r>
          </a:p>
          <a:p>
            <a:pPr lvl="0"/>
            <a:r>
              <a:rPr lang="en-US" dirty="0"/>
              <a:t>Pattern detection</a:t>
            </a:r>
          </a:p>
          <a:p>
            <a:pPr lvl="0"/>
            <a:r>
              <a:rPr lang="en-US" dirty="0"/>
              <a:t>MITRE ATT&amp;CK skill</a:t>
            </a:r>
          </a:p>
          <a:p>
            <a:pPr lvl="0"/>
            <a:r>
              <a:rPr lang="en-US" dirty="0"/>
              <a:t>Dashboard design</a:t>
            </a:r>
          </a:p>
          <a:p>
            <a:pPr lvl="0"/>
            <a:r>
              <a:rPr lang="en-US" dirty="0"/>
              <a:t>Audit-style reporting</a:t>
            </a:r>
          </a:p>
          <a:p>
            <a:pPr lvl="0"/>
            <a:r>
              <a:rPr lang="en-US" dirty="0"/>
              <a:t>Real-world security thinking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981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85321-59BA-77C8-DFDB-0B5C4E63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2139C-AC63-6CEF-2D19-036ECB7C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Links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81CE9-21B5-B9F3-267A-7F089A362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Kaggle Data Source:</a:t>
            </a:r>
            <a:br>
              <a:rPr lang="en-US" sz="2200"/>
            </a:br>
            <a:r>
              <a:rPr lang="en-US" sz="2200">
                <a:hlinkClick r:id="rId2"/>
              </a:rPr>
              <a:t>https://www.kaggle.com/datasets/Microsoft/microsoft-security-incident-prediction</a:t>
            </a:r>
            <a:endParaRPr lang="en-US" sz="2200"/>
          </a:p>
          <a:p>
            <a:pPr marL="0" indent="0">
              <a:buNone/>
            </a:pPr>
            <a:br>
              <a:rPr lang="en-US" sz="2200"/>
            </a:br>
            <a:r>
              <a:rPr lang="en-US" sz="2200"/>
              <a:t>GitHub Repository:</a:t>
            </a:r>
          </a:p>
          <a:p>
            <a:pPr marL="0" indent="0">
              <a:buNone/>
            </a:pPr>
            <a:r>
              <a:rPr lang="en-US" sz="2200">
                <a:hlinkClick r:id="rId3"/>
              </a:rPr>
              <a:t>https://github.com/LaniNguyen1/cybersecurity-incident-analysis</a:t>
            </a: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Tableau Dashboards:</a:t>
            </a:r>
          </a:p>
          <a:p>
            <a:pPr marL="0" indent="0">
              <a:buNone/>
            </a:pPr>
            <a:r>
              <a:rPr lang="en-US" sz="2200">
                <a:hlinkClick r:id="rId4"/>
              </a:rPr>
              <a:t>https://public.tableau.com/app/profile/lani.nguyen7732/viz/AnalyzingSecurityIncidentLogstoDetectPotentialCyberThreats/Dashboard4#1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43444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D3417-E897-6E4E-2C2B-B6424E11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6DB57B9-EA24-97A2-5B37-439DA5516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7DB281-D49E-DAB0-9F97-DC5905741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BC8A3A-89BC-553C-D63D-7439834D9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F0FD47-3C75-0F3F-2C21-27AD34EE4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1EA55-D712-8788-D93C-8107843C5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/>
              <a:t>Cyber Security Incident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6F565-3296-59E3-264B-EF0C8AF8E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sz="2000" dirty="0"/>
              <a:t>Identifying High-Risk Accounts, Anomaly Patterns &amp; MITRE ATT&amp;CK Behaviors</a:t>
            </a:r>
          </a:p>
          <a:p>
            <a:endParaRPr lang="en-US" sz="2000" dirty="0"/>
          </a:p>
          <a:p>
            <a:r>
              <a:rPr lang="en-US" sz="1600" dirty="0"/>
              <a:t>By: Lani Nguyen</a:t>
            </a: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C27BD823-311D-0FAC-09E2-699FA0095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CFEF17D-314F-1093-619D-D1F8711C0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1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608</Words>
  <Application>Microsoft Macintosh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Cyber Security Incident Analysis</vt:lpstr>
      <vt:lpstr>Project Overview</vt:lpstr>
      <vt:lpstr>Dataset &amp; Tools</vt:lpstr>
      <vt:lpstr>Methodology</vt:lpstr>
      <vt:lpstr>Key Questions</vt:lpstr>
      <vt:lpstr>Dashboard 1</vt:lpstr>
      <vt:lpstr>PowerPoint Presentation</vt:lpstr>
      <vt:lpstr>Dashboard 1 Findings</vt:lpstr>
      <vt:lpstr>Dashboard 2</vt:lpstr>
      <vt:lpstr>PowerPoint Presentation</vt:lpstr>
      <vt:lpstr>Dashboard 2 Findings</vt:lpstr>
      <vt:lpstr>Risk &amp; Audit Observations</vt:lpstr>
      <vt:lpstr>Recommendations</vt:lpstr>
      <vt:lpstr>Conclusion</vt:lpstr>
      <vt:lpstr>Links</vt:lpstr>
      <vt:lpstr>Cyber Security Incident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safaridynmte@gmail.com</dc:creator>
  <cp:lastModifiedBy>safaridynmte@gmail.com</cp:lastModifiedBy>
  <cp:revision>1</cp:revision>
  <dcterms:created xsi:type="dcterms:W3CDTF">2025-12-12T03:01:38Z</dcterms:created>
  <dcterms:modified xsi:type="dcterms:W3CDTF">2025-12-12T04:11:59Z</dcterms:modified>
</cp:coreProperties>
</file>